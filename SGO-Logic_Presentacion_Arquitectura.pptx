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152020A-AE88-47D5-84D3-253A7B76BBC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Abrir con una idea simple: SGO-Logic no reemplaza los sistemas existentes; los orquesta para habilitar una experiencia omnicanal. Enfatizar que la arquitectura fue derivada de drivers y restricciones, no de preferencia tecnológica.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E05B85-9336-48E5-B120-C2AF320EAC8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Dar contexto de negocio antes de entrar a tecnología. Mencionar que el problema no es “hacer otro sistema”, sino coordinar una operación que ya existe y que hoy se resuelve parcialmente con procesos manuales.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05F7F5-D3AD-4D9B-8B2C-C98874F7910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frase clave para defensa: “SGO-Logic no reemplaza el ERP ni los POS; funciona como una capa de orquestación sobre ellos”. Esto ayuda a responder rápidamente qué entra y qué no entra en el alcance.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B45AA5-32CC-44D4-8634-EF286B56DC4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presentar las restricciones como problemas: son condiciones de diseño. Subrayar que ERP y POS no pueden tocarse, y que Kubernetes/microservicios completos introducirían riesgo operativo y de plazo.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F8D337-6196-4B94-89FC-6E47B45AF74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Explicar la cadena causal: primero continuidad de pagos, después omnicanalidad/inventario, luego capacidad para el pico comercial, y finalmente auditabilidad e integración confiable. La arquitectura debe poder demostrarse contra estos cinco puntos.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7F1AFC-1759-4AC8-8CC4-AA635B916F1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Aclarar que “monolito modular” describe el estilo y el límite de complejidad, mientras que el broker desacopla los flujos que necesariamente interactúan con terceros. No se eligió microservicios completos desde el inicio por costo, capacidades del equipo y riesgo de plazo.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7A001E-2D13-4D4B-87AD-6739D477432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lectura de esta diapositiva debe ser secuencial: ADR-0001 crea el molde; ADR-0002/3/4 aplican el mismo patrón a puntos de falla concretos; ADR-0005 aprovecha el desacoplamiento para permitir una futura migración a nube.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7B8754-7E86-48FD-9110-8EE2EF9183D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intentar explicar cada flecha. Explicar el límite del sistema: SGO-Logic coordina, los sistemas externos siguen siendo dueños de sus responsabilidades. La frase “no reemplaza ni modifica ERP/POS” debe quedar clara aquí.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D84649-CEA0-4ACC-AB93-FA76C316472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Usar esta vista para explicar la estructura sin entrar en detalle de protocolos. La idea clave es que los canales no hablan directamente con terceros: pasan por la orquestación y módulos del backbone.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6551C1-56E0-4FEB-B2C2-13FEBDED5A5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Explicar solo tres recorridos: 1) Order Service coordina inventario/facturación/logística; 2) Payment Service usa outbox y broker para no perder intentos; 3) ERP Sync y notificaciones consumen eventos de forma desacoplada. No leer todos los componentes.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C381C4-B24F-4228-AC7A-1E686C75ED4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 diapositiva conecta casos de uso con arquitectura. La defensa debe mostrar que cada paso tiene una responsabilidad clara y que las reglas críticas están soportadas por mecanismos arquitectónicos concretos.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8028CA-A389-422A-93D8-B12A50A021C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 es la diapositiva más importante de la defensa. Recitar la cadena: orden persistida → outbox → broker → payment service → circuit breaker/reintentos. Si PayKlik cae, la orden no se pierde; cambia temporalmente el estado visible al cliente.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00FFE4-1845-4AFA-B3C9-C689E48D4A8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Contrastar los tres casos: ERP tiene una restricción temporal fija; LogiExpress es crítico para completar despacho pero puede fallar transitoriamente; notificaciones son no críticas y jamás deben frenar la operación.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AB4078-07B7-4248-B3E1-7921C0A16DA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Señalar cuatro ideas: balanceador/reverse proxy, hosts separados para orquestación e integración externa, base relacional + broker, y proveedores fuera del datacenter. La Fase 1 reserva capacidad para Black Friday; no promete autoescalado real.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CDCF03-276E-4006-9670-C5D019CC14D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defensa, relacionar directamente esta diapositiva con la stakeholder de Finanzas y con SAT. Decir que la trazabilidad se diseñó desde el inicio, no como un log agregado al final.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111A90-08B2-4A5D-9F6F-B047854D2BC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Una buena defensa reconoce límites. Aquí conviene decir explícitamente qué NO promete la solución: no hay ERP en tiempo real ni autoscaling real en Fase 1. Eso refuerza credibilidad.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929E46-1A26-44E3-B906-C9C2D97456E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 diapositiva sirve como marco para responder cualquier pregunta del comité. Elegir un driver, señalar el ADR que lo resuelve, mostrar la vista donde se materializa y explicar cómo se comprobaría.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93E678-640A-4147-AD72-8CB5DF521FB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Cerrar regresando a negocio. No terminar hablando de Docker o broker: terminar hablando de continuidad, omnicanalidad y cumplimiento.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7E56E9-0A84-4B05-A086-CA3CFCE030F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Usar esta diapositiva solo como apéndice o para practicar. En la defensa real, responder en 20–30 segundos y luego ampliar solo si el comité lo pide.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C7C7EE-3A0B-434D-8B4B-C3A5E3358B8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6565320"/>
            <a:ext cx="11183040" cy="360"/>
          </a:xfrm>
          <a:prstGeom prst="line">
            <a:avLst/>
          </a:prstGeom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583680"/>
            <a:ext cx="7863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SGO-Logic · MegaStore · Análisis y Diseño de Sistemas 2A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11292840" y="6546960"/>
            <a:ext cx="36540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A03C4D-2C50-44FA-AFAD-FD5286FDFF1C}" type="slidenum">
              <a: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8183880" y="0"/>
            <a:ext cx="4004640" cy="6857640"/>
          </a:xfrm>
          <a:prstGeom prst="rect">
            <a:avLst/>
          </a:prstGeom>
          <a:solidFill>
            <a:srgbClr val="20496c">
              <a:alpha val="92000"/>
            </a:srgbClr>
          </a:solidFill>
          <a:ln w="12700">
            <a:solidFill>
              <a:srgbClr val="20496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 rot="900000">
            <a:off x="8686440" y="502560"/>
            <a:ext cx="3382920" cy="3382920"/>
          </a:xfrm>
          <a:prstGeom prst="arc">
            <a:avLst>
              <a:gd name="adj1" fmla="val 16200000"/>
              <a:gd name="adj2" fmla="val 0"/>
            </a:avLst>
          </a:prstGeom>
          <a:noFill/>
          <a:ln w="279400">
            <a:solidFill>
              <a:srgbClr val="5f91c6">
                <a:alpha val="4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 rot="12300000">
            <a:off x="9326880" y="3383640"/>
            <a:ext cx="2559960" cy="2559960"/>
          </a:xfrm>
          <a:prstGeom prst="arc">
            <a:avLst>
              <a:gd name="adj1" fmla="val 16200000"/>
              <a:gd name="adj2" fmla="val 0"/>
            </a:avLst>
          </a:prstGeom>
          <a:noFill/>
          <a:ln w="203200">
            <a:solidFill>
              <a:srgbClr val="7bb77a">
                <a:alpha val="5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749880" y="1143000"/>
            <a:ext cx="5851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SGO-Logic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768240" y="1920240"/>
            <a:ext cx="7040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ddebfa"/>
                </a:solidFill>
                <a:effectLst/>
                <a:uFillTx/>
                <a:latin typeface="Aptos Display"/>
                <a:ea typeface="Aptos Display"/>
              </a:rPr>
              <a:t>Arquitectura para operación omnicanal de MegaStore</a:t>
            </a:r>
            <a:endParaRPr b="0" lang="en-US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786240" y="285300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fd1e4"/>
                </a:solidFill>
                <a:effectLst/>
                <a:uFillTx/>
                <a:latin typeface="Aptos"/>
              </a:rPr>
              <a:t>Documento de Definición de Arquitectura · Diagramas · ADR · Defensa oral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786240" y="3822120"/>
            <a:ext cx="1554120" cy="310680"/>
          </a:xfrm>
          <a:prstGeom prst="roundRect">
            <a:avLst>
              <a:gd name="adj" fmla="val 23529"/>
            </a:avLst>
          </a:prstGeom>
          <a:solidFill>
            <a:srgbClr val="2a4a69"/>
          </a:solidFill>
          <a:ln w="12700">
            <a:solidFill>
              <a:srgbClr val="2a4a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859680" y="3886200"/>
            <a:ext cx="14079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Grupo 3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2468880" y="3822120"/>
            <a:ext cx="2377080" cy="310680"/>
          </a:xfrm>
          <a:prstGeom prst="roundRect">
            <a:avLst>
              <a:gd name="adj" fmla="val 23529"/>
            </a:avLst>
          </a:prstGeom>
          <a:solidFill>
            <a:srgbClr val="2a4a69"/>
          </a:solidFill>
          <a:ln w="12700">
            <a:solidFill>
              <a:srgbClr val="2a4a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2541960" y="3886200"/>
            <a:ext cx="22309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Fase 1 · 26 ago 2026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786240" y="6016680"/>
            <a:ext cx="4937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fc4d8"/>
                </a:solidFill>
                <a:effectLst/>
                <a:uFillTx/>
                <a:latin typeface="Aptos"/>
              </a:rPr>
              <a:t>Análisis y Diseño de Sistemas 2A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786240" y="6327720"/>
            <a:ext cx="5668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fa9bf"/>
                </a:solidFill>
                <a:effectLst/>
                <a:uFillTx/>
                <a:latin typeface="Aptos"/>
              </a:rPr>
              <a:t>MegaStore · Guatemala / El Salvador / Costa Rica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640080" y="255960"/>
            <a:ext cx="1234080" cy="237240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713160" y="306360"/>
            <a:ext cx="108792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CONTEXTO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62172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MegaStore: el punto de partida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640080" y="85968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  <a:ea typeface="Aptos"/>
              </a:rPr>
              <a:t>Una operación regional grande, pero fragmentada por silos tecnológicos.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4"/>
          <p:cNvSpPr/>
          <p:nvPr/>
        </p:nvSpPr>
        <p:spPr>
          <a:xfrm>
            <a:off x="658440" y="1344240"/>
            <a:ext cx="3492720" cy="1828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859680" y="1508760"/>
            <a:ext cx="3090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ESCALA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6"/>
          <p:cNvSpPr/>
          <p:nvPr/>
        </p:nvSpPr>
        <p:spPr>
          <a:xfrm>
            <a:off x="859680" y="1764720"/>
            <a:ext cx="3090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32 tiendas físicas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7"/>
          <p:cNvSpPr/>
          <p:nvPr/>
        </p:nvSpPr>
        <p:spPr>
          <a:xfrm>
            <a:off x="859680" y="2185560"/>
            <a:ext cx="30902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POS locales por tienda y operación presencial distribuida.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8"/>
          <p:cNvSpPr/>
          <p:nvPr/>
        </p:nvSpPr>
        <p:spPr>
          <a:xfrm>
            <a:off x="4352400" y="1344240"/>
            <a:ext cx="3492720" cy="1828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  <a:effectLst>
            <a:outerShdw algn="bl" blurRad="322580160" dir="0" dist="16129008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9"/>
          <p:cNvSpPr/>
          <p:nvPr/>
        </p:nvSpPr>
        <p:spPr>
          <a:xfrm>
            <a:off x="4553640" y="1508760"/>
            <a:ext cx="3090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3f7d46"/>
                </a:solidFill>
                <a:effectLst/>
                <a:uFillTx/>
                <a:latin typeface="Aptos"/>
              </a:rPr>
              <a:t>CRECIMIENTO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4553640" y="1764720"/>
            <a:ext cx="3090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25% de ventas online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1"/>
          <p:cNvSpPr/>
          <p:nvPr/>
        </p:nvSpPr>
        <p:spPr>
          <a:xfrm>
            <a:off x="4553640" y="2185560"/>
            <a:ext cx="30902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El e-commerce ya es material y crece aproximadamente 15% anual.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2"/>
          <p:cNvSpPr/>
          <p:nvPr/>
        </p:nvSpPr>
        <p:spPr>
          <a:xfrm>
            <a:off x="8046720" y="1344240"/>
            <a:ext cx="3492720" cy="1828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3"/>
          <p:cNvSpPr/>
          <p:nvPr/>
        </p:nvSpPr>
        <p:spPr>
          <a:xfrm>
            <a:off x="8247960" y="1508760"/>
            <a:ext cx="3090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e79242"/>
                </a:solidFill>
                <a:effectLst/>
                <a:uFillTx/>
                <a:latin typeface="Aptos"/>
              </a:rPr>
              <a:t>NEGOCIO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8247960" y="1764720"/>
            <a:ext cx="3090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USD 450M / año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5"/>
          <p:cNvSpPr/>
          <p:nvPr/>
        </p:nvSpPr>
        <p:spPr>
          <a:xfrm>
            <a:off x="8247960" y="2185560"/>
            <a:ext cx="30902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La continuidad operativa y la confiabilidad tienen impacto financiero directo.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685800" y="352944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Situación actual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749880" y="3931920"/>
            <a:ext cx="557748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b="0" lang="en-US" sz="1120" strike="noStrike" u="none">
                <a:solidFill>
                  <a:srgbClr val="172033"/>
                </a:solidFill>
                <a:effectLst/>
                <a:uFillTx/>
                <a:latin typeface="Aptos"/>
                <a:ea typeface="Aptos"/>
              </a:rPr>
              <a:t>POS, e-commerce, inventario, logística y contabilidad operan con integración limitada.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b="0" lang="en-US" sz="1120" strike="noStrike" u="none">
                <a:solidFill>
                  <a:srgbClr val="172033"/>
                </a:solidFill>
                <a:effectLst/>
                <a:uFillTx/>
                <a:latin typeface="Aptos"/>
                <a:ea typeface="Aptos"/>
              </a:rPr>
              <a:t>Para completar ventas se usan llamadas, hojas de cálculo y conciliaciones manuales.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b="0" lang="en-US" sz="1120" strike="noStrike" u="none">
                <a:solidFill>
                  <a:srgbClr val="172033"/>
                </a:solidFill>
                <a:effectLst/>
                <a:uFillTx/>
                <a:latin typeface="Aptos"/>
                <a:ea typeface="Aptos"/>
              </a:rPr>
              <a:t>La gerencia no tiene una visión única y oportuna de orden, inventario y cumplimiento.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8"/>
          <p:cNvSpPr/>
          <p:nvPr/>
        </p:nvSpPr>
        <p:spPr>
          <a:xfrm>
            <a:off x="6720840" y="3620880"/>
            <a:ext cx="4708800" cy="1828440"/>
          </a:xfrm>
          <a:prstGeom prst="roundRect">
            <a:avLst>
              <a:gd name="adj" fmla="val 3000"/>
            </a:avLst>
          </a:prstGeom>
          <a:solidFill>
            <a:srgbClr val="fff6d9"/>
          </a:solidFill>
          <a:ln w="12700">
            <a:solidFill>
              <a:srgbClr val="f0d6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9"/>
          <p:cNvSpPr/>
          <p:nvPr/>
        </p:nvSpPr>
        <p:spPr>
          <a:xfrm>
            <a:off x="7004160" y="388620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a5a0a"/>
                </a:solidFill>
                <a:effectLst/>
                <a:uFillTx/>
                <a:latin typeface="Aptos"/>
              </a:rPr>
              <a:t>Implicación arquitectónica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0"/>
          <p:cNvSpPr/>
          <p:nvPr/>
        </p:nvSpPr>
        <p:spPr>
          <a:xfrm>
            <a:off x="7004160" y="4370760"/>
            <a:ext cx="38858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d5a25"/>
                </a:solidFill>
                <a:effectLst/>
                <a:uFillTx/>
                <a:latin typeface="Aptos"/>
              </a:rPr>
              <a:t>La solución debe coordinar canales y sistemas existentes sin sustituirlos, y absorber fallas de terceros sin perder órdenes ni trazabilidad.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sldNum" idx="5"/>
          </p:nvPr>
        </p:nvSpPr>
        <p:spPr>
          <a:xfrm>
            <a:off x="11292840" y="6546960"/>
            <a:ext cx="36540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63156F-E389-4151-9473-D207646F3E85}" type="slidenum">
              <a: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2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640080" y="255960"/>
            <a:ext cx="1234080" cy="237240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713160" y="306360"/>
            <a:ext cx="108792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OBJETIVO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62172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Del problema de silos a una compra omnicanal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640080" y="85968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  <a:ea typeface="Aptos"/>
              </a:rPr>
              <a:t>SGO-Logic funciona como capa de orquestación sobre sistemas heredados y proveedores externos.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"/>
          <p:cNvSpPr/>
          <p:nvPr/>
        </p:nvSpPr>
        <p:spPr>
          <a:xfrm>
            <a:off x="685800" y="1508760"/>
            <a:ext cx="3062880" cy="3474360"/>
          </a:xfrm>
          <a:prstGeom prst="roundRect">
            <a:avLst>
              <a:gd name="adj" fmla="val 1791"/>
            </a:avLst>
          </a:prstGeom>
          <a:solidFill>
            <a:srgbClr val="fceaea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887040" y="1673280"/>
            <a:ext cx="2660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c95b5b"/>
                </a:solidFill>
                <a:effectLst/>
                <a:uFillTx/>
                <a:latin typeface="Aptos"/>
              </a:rPr>
              <a:t>OPERACIÓN FRAGMENTADA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887040" y="1929240"/>
            <a:ext cx="2660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95b5b"/>
                </a:solidFill>
                <a:effectLst/>
                <a:uFillTx/>
                <a:latin typeface="Aptos"/>
              </a:rPr>
              <a:t>Antes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887040" y="2350080"/>
            <a:ext cx="2660400" cy="248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Cliente y personal deben “saltar” entre sistemas y canales para completar una orden.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8"/>
          <p:cNvSpPr/>
          <p:nvPr/>
        </p:nvSpPr>
        <p:spPr>
          <a:xfrm>
            <a:off x="4563000" y="1508760"/>
            <a:ext cx="3062880" cy="3474360"/>
          </a:xfrm>
          <a:prstGeom prst="roundRect">
            <a:avLst>
              <a:gd name="adj" fmla="val 1791"/>
            </a:avLst>
          </a:prstGeom>
          <a:solidFill>
            <a:srgbClr val="eaf5e9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4763880" y="1673280"/>
            <a:ext cx="2660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3f7d46"/>
                </a:solidFill>
                <a:effectLst/>
                <a:uFillTx/>
                <a:latin typeface="Aptos"/>
              </a:rPr>
              <a:t>SISTEMA DE INTERÉS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0"/>
          <p:cNvSpPr/>
          <p:nvPr/>
        </p:nvSpPr>
        <p:spPr>
          <a:xfrm>
            <a:off x="4763880" y="1929240"/>
            <a:ext cx="2660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3f7d46"/>
                </a:solidFill>
                <a:effectLst/>
                <a:uFillTx/>
                <a:latin typeface="Aptos"/>
              </a:rPr>
              <a:t>SGO-Logic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4763880" y="2350080"/>
            <a:ext cx="2660400" cy="248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Orquesta orden, inventario, pago, factura, despacho, notificación y conciliación con una trazabilidad común.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2"/>
          <p:cNvSpPr/>
          <p:nvPr/>
        </p:nvSpPr>
        <p:spPr>
          <a:xfrm>
            <a:off x="8439840" y="1508760"/>
            <a:ext cx="3062880" cy="3474360"/>
          </a:xfrm>
          <a:prstGeom prst="roundRect">
            <a:avLst>
              <a:gd name="adj" fmla="val 1791"/>
            </a:avLst>
          </a:prstGeom>
          <a:solidFill>
            <a:srgbClr val="eaf2fd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8641080" y="1673280"/>
            <a:ext cx="2660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EXPERIENCIA OMNICANAL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4"/>
          <p:cNvSpPr/>
          <p:nvPr/>
        </p:nvSpPr>
        <p:spPr>
          <a:xfrm>
            <a:off x="8641080" y="1929240"/>
            <a:ext cx="2660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Después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8641080" y="2350080"/>
            <a:ext cx="2660400" cy="248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Una compra puede iniciar, continuar y completarse desde tienda, web, app o centro de atención.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6"/>
          <p:cNvSpPr/>
          <p:nvPr/>
        </p:nvSpPr>
        <p:spPr>
          <a:xfrm>
            <a:off x="3794760" y="3246120"/>
            <a:ext cx="612360" cy="360"/>
          </a:xfrm>
          <a:prstGeom prst="line">
            <a:avLst/>
          </a:prstGeom>
          <a:ln w="25400">
            <a:solidFill>
              <a:srgbClr val="5a66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7"/>
          <p:cNvSpPr/>
          <p:nvPr/>
        </p:nvSpPr>
        <p:spPr>
          <a:xfrm>
            <a:off x="7671600" y="3246120"/>
            <a:ext cx="612720" cy="360"/>
          </a:xfrm>
          <a:prstGeom prst="line">
            <a:avLst/>
          </a:prstGeom>
          <a:ln w="25400">
            <a:solidFill>
              <a:srgbClr val="5a66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8"/>
          <p:cNvSpPr/>
          <p:nvPr/>
        </p:nvSpPr>
        <p:spPr>
          <a:xfrm>
            <a:off x="1947600" y="5486400"/>
            <a:ext cx="8412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Principio clave: SGO-Logic no reemplaza ERP-Core, POS, PayKlik ni LogiExpress.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sldNum" idx="6"/>
          </p:nvPr>
        </p:nvSpPr>
        <p:spPr>
          <a:xfrm>
            <a:off x="11292840" y="6546960"/>
            <a:ext cx="36540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7B7933-BFE5-4333-9E22-3425E5B0C54E}" type="slidenum">
              <a: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3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640080" y="255960"/>
            <a:ext cx="1508400" cy="237240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713160" y="306360"/>
            <a:ext cx="13622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RESTRICCIONES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62172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Restricciones que condicionan la arquitectura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640080" y="85968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  <a:ea typeface="Aptos"/>
              </a:rPr>
              <a:t>El diseño debe ser viable técnica, contractual y económicamente.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685800" y="1353240"/>
            <a:ext cx="3547440" cy="1416960"/>
          </a:xfrm>
          <a:prstGeom prst="roundRect">
            <a:avLst>
              <a:gd name="adj" fmla="val 3871"/>
            </a:avLst>
          </a:prstGeom>
          <a:solidFill>
            <a:srgbClr val="fff6d9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887040" y="1517760"/>
            <a:ext cx="3145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8a6a0a"/>
                </a:solidFill>
                <a:effectLst/>
                <a:uFillTx/>
                <a:latin typeface="Aptos"/>
              </a:rPr>
              <a:t>DR-04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887040" y="1774080"/>
            <a:ext cx="3145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ERP-Core no se modifica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887040" y="2194560"/>
            <a:ext cx="3145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Integración batch CSV/XML cada 30 minutos.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8"/>
          <p:cNvSpPr/>
          <p:nvPr/>
        </p:nvSpPr>
        <p:spPr>
          <a:xfrm>
            <a:off x="4325040" y="1353240"/>
            <a:ext cx="3547440" cy="1416960"/>
          </a:xfrm>
          <a:prstGeom prst="roundRect">
            <a:avLst>
              <a:gd name="adj" fmla="val 3871"/>
            </a:avLst>
          </a:prstGeom>
          <a:solidFill>
            <a:srgbClr val="fff6d9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4526280" y="1517760"/>
            <a:ext cx="3145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8a6a0a"/>
                </a:solidFill>
                <a:effectLst/>
                <a:uFillTx/>
                <a:latin typeface="Aptos"/>
              </a:rPr>
              <a:t>DR-05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4526280" y="1774080"/>
            <a:ext cx="3145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POS no se reemplaza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4526280" y="2194560"/>
            <a:ext cx="3145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Adaptadores + eventos con reintentos para 32 tiendas.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2"/>
          <p:cNvSpPr/>
          <p:nvPr/>
        </p:nvSpPr>
        <p:spPr>
          <a:xfrm>
            <a:off x="7964280" y="1353240"/>
            <a:ext cx="3547440" cy="1416960"/>
          </a:xfrm>
          <a:prstGeom prst="roundRect">
            <a:avLst>
              <a:gd name="adj" fmla="val 3871"/>
            </a:avLst>
          </a:prstGeom>
          <a:solidFill>
            <a:srgbClr val="fff6d9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8165520" y="1517760"/>
            <a:ext cx="3145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8a6a0a"/>
                </a:solidFill>
                <a:effectLst/>
                <a:uFillTx/>
                <a:latin typeface="Aptos"/>
              </a:rPr>
              <a:t>DR-06 / DR-07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8165520" y="1774080"/>
            <a:ext cx="3145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Contratos vigentes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8165520" y="2194560"/>
            <a:ext cx="3145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PayKlik y LogiExpress deben mantenerse en Fase 1.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6"/>
          <p:cNvSpPr/>
          <p:nvPr/>
        </p:nvSpPr>
        <p:spPr>
          <a:xfrm>
            <a:off x="685800" y="2990160"/>
            <a:ext cx="3547440" cy="1416960"/>
          </a:xfrm>
          <a:prstGeom prst="roundRect">
            <a:avLst>
              <a:gd name="adj" fmla="val 3871"/>
            </a:avLst>
          </a:prstGeom>
          <a:solidFill>
            <a:srgbClr val="eaf2fd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887040" y="3154680"/>
            <a:ext cx="3145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DR-01 / DR-02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8"/>
          <p:cNvSpPr/>
          <p:nvPr/>
        </p:nvSpPr>
        <p:spPr>
          <a:xfrm>
            <a:off x="887040" y="3410640"/>
            <a:ext cx="3145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Presupuesto limitado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9"/>
          <p:cNvSpPr/>
          <p:nvPr/>
        </p:nvSpPr>
        <p:spPr>
          <a:xfrm>
            <a:off x="887040" y="3831480"/>
            <a:ext cx="3145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Inversión inicial ≤ USD 150K y operación mensual ≤ USD 1,200.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0"/>
          <p:cNvSpPr/>
          <p:nvPr/>
        </p:nvSpPr>
        <p:spPr>
          <a:xfrm>
            <a:off x="4325040" y="2990160"/>
            <a:ext cx="3547440" cy="1416960"/>
          </a:xfrm>
          <a:prstGeom prst="roundRect">
            <a:avLst>
              <a:gd name="adj" fmla="val 3871"/>
            </a:avLst>
          </a:prstGeom>
          <a:solidFill>
            <a:srgbClr val="eaf2fd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1"/>
          <p:cNvSpPr/>
          <p:nvPr/>
        </p:nvSpPr>
        <p:spPr>
          <a:xfrm>
            <a:off x="4526280" y="3154680"/>
            <a:ext cx="3145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DR-10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2"/>
          <p:cNvSpPr/>
          <p:nvPr/>
        </p:nvSpPr>
        <p:spPr>
          <a:xfrm>
            <a:off x="4526280" y="3410640"/>
            <a:ext cx="3145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On-premises primero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4526280" y="3831480"/>
            <a:ext cx="3145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La nube queda como evolución planificada.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4"/>
          <p:cNvSpPr/>
          <p:nvPr/>
        </p:nvSpPr>
        <p:spPr>
          <a:xfrm>
            <a:off x="7964280" y="2990160"/>
            <a:ext cx="3547440" cy="1416960"/>
          </a:xfrm>
          <a:prstGeom prst="roundRect">
            <a:avLst>
              <a:gd name="adj" fmla="val 3871"/>
            </a:avLst>
          </a:prstGeom>
          <a:solidFill>
            <a:srgbClr val="eaf2fd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5"/>
          <p:cNvSpPr/>
          <p:nvPr/>
        </p:nvSpPr>
        <p:spPr>
          <a:xfrm>
            <a:off x="8165520" y="3154680"/>
            <a:ext cx="3145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DR-09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6"/>
          <p:cNvSpPr/>
          <p:nvPr/>
        </p:nvSpPr>
        <p:spPr>
          <a:xfrm>
            <a:off x="8165520" y="3410640"/>
            <a:ext cx="3145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Stack conocido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7"/>
          <p:cNvSpPr/>
          <p:nvPr/>
        </p:nvSpPr>
        <p:spPr>
          <a:xfrm>
            <a:off x="8165520" y="3831480"/>
            <a:ext cx="31453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Java, .NET y Docker; evitar una curva operativa innecesaria.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8"/>
          <p:cNvSpPr/>
          <p:nvPr/>
        </p:nvSpPr>
        <p:spPr>
          <a:xfrm>
            <a:off x="685800" y="4827960"/>
            <a:ext cx="10826280" cy="840960"/>
          </a:xfrm>
          <a:prstGeom prst="roundRect">
            <a:avLst>
              <a:gd name="adj" fmla="val 5435"/>
            </a:avLst>
          </a:prstGeom>
          <a:solidFill>
            <a:srgbClr val="17324d"/>
          </a:solidFill>
          <a:ln w="12700">
            <a:solidFill>
              <a:srgbClr val="1732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9"/>
          <p:cNvSpPr/>
          <p:nvPr/>
        </p:nvSpPr>
        <p:spPr>
          <a:xfrm>
            <a:off x="951120" y="5056560"/>
            <a:ext cx="10286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Consecuencia: una arquitectura sofisticada pero difícil de operar sería peor que una arquitectura suficientemente resiliente, trazable y entregable antes de Black Friday.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sldNum" idx="7"/>
          </p:nvPr>
        </p:nvSpPr>
        <p:spPr>
          <a:xfrm>
            <a:off x="11292840" y="6546960"/>
            <a:ext cx="36540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23CE89-0BE6-4961-B334-8AD5D2EE56FD}" type="slidenum">
              <a: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4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640080" y="255960"/>
            <a:ext cx="1142640" cy="237240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713160" y="306360"/>
            <a:ext cx="9964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DRIVERS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"/>
          <p:cNvSpPr/>
          <p:nvPr/>
        </p:nvSpPr>
        <p:spPr>
          <a:xfrm>
            <a:off x="62172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Drivers priorizados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"/>
          <p:cNvSpPr/>
          <p:nvPr/>
        </p:nvSpPr>
        <p:spPr>
          <a:xfrm>
            <a:off x="640080" y="85968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  <a:ea typeface="Aptos"/>
              </a:rPr>
              <a:t>Estos drivers explican por qué la arquitectura tiene la forma que tiene.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4"/>
          <p:cNvSpPr/>
          <p:nvPr/>
        </p:nvSpPr>
        <p:spPr>
          <a:xfrm>
            <a:off x="713160" y="1417320"/>
            <a:ext cx="502560" cy="4201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786240" y="1517760"/>
            <a:ext cx="356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#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6"/>
          <p:cNvSpPr/>
          <p:nvPr/>
        </p:nvSpPr>
        <p:spPr>
          <a:xfrm>
            <a:off x="1216080" y="1417320"/>
            <a:ext cx="914040" cy="4201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7"/>
          <p:cNvSpPr/>
          <p:nvPr/>
        </p:nvSpPr>
        <p:spPr>
          <a:xfrm>
            <a:off x="1289160" y="1517760"/>
            <a:ext cx="767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ID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8"/>
          <p:cNvSpPr/>
          <p:nvPr/>
        </p:nvSpPr>
        <p:spPr>
          <a:xfrm>
            <a:off x="2130480" y="1417320"/>
            <a:ext cx="5166000" cy="4201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9"/>
          <p:cNvSpPr/>
          <p:nvPr/>
        </p:nvSpPr>
        <p:spPr>
          <a:xfrm>
            <a:off x="2203560" y="1517760"/>
            <a:ext cx="5019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Driver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0"/>
          <p:cNvSpPr/>
          <p:nvPr/>
        </p:nvSpPr>
        <p:spPr>
          <a:xfrm>
            <a:off x="7296840" y="1417320"/>
            <a:ext cx="914040" cy="4201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1"/>
          <p:cNvSpPr/>
          <p:nvPr/>
        </p:nvSpPr>
        <p:spPr>
          <a:xfrm>
            <a:off x="7369920" y="1517760"/>
            <a:ext cx="767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Puntaje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2"/>
          <p:cNvSpPr/>
          <p:nvPr/>
        </p:nvSpPr>
        <p:spPr>
          <a:xfrm>
            <a:off x="8211240" y="1417320"/>
            <a:ext cx="3108600" cy="4201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3"/>
          <p:cNvSpPr/>
          <p:nvPr/>
        </p:nvSpPr>
        <p:spPr>
          <a:xfrm>
            <a:off x="8284320" y="1517760"/>
            <a:ext cx="2962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Medida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4"/>
          <p:cNvSpPr/>
          <p:nvPr/>
        </p:nvSpPr>
        <p:spPr>
          <a:xfrm>
            <a:off x="713160" y="1837800"/>
            <a:ext cx="502560" cy="712800"/>
          </a:xfrm>
          <a:prstGeom prst="rect">
            <a:avLst/>
          </a:prstGeom>
          <a:solidFill>
            <a:srgbClr val="fceaea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5"/>
          <p:cNvSpPr/>
          <p:nvPr/>
        </p:nvSpPr>
        <p:spPr>
          <a:xfrm>
            <a:off x="786240" y="1974960"/>
            <a:ext cx="356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c95b5b"/>
                </a:solidFill>
                <a:effectLst/>
                <a:uFillTx/>
                <a:latin typeface="Aptos"/>
              </a:rPr>
              <a:t>1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6"/>
          <p:cNvSpPr/>
          <p:nvPr/>
        </p:nvSpPr>
        <p:spPr>
          <a:xfrm>
            <a:off x="1216080" y="1837800"/>
            <a:ext cx="914040" cy="712800"/>
          </a:xfrm>
          <a:prstGeom prst="rect">
            <a:avLst/>
          </a:prstGeom>
          <a:solidFill>
            <a:srgbClr val="fceaea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7"/>
          <p:cNvSpPr/>
          <p:nvPr/>
        </p:nvSpPr>
        <p:spPr>
          <a:xfrm>
            <a:off x="1289160" y="1974960"/>
            <a:ext cx="767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c95b5b"/>
                </a:solidFill>
                <a:effectLst/>
                <a:uFillTx/>
                <a:latin typeface="Aptos"/>
              </a:rPr>
              <a:t>DC-01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8"/>
          <p:cNvSpPr/>
          <p:nvPr/>
        </p:nvSpPr>
        <p:spPr>
          <a:xfrm>
            <a:off x="2130480" y="1837800"/>
            <a:ext cx="5166000" cy="712800"/>
          </a:xfrm>
          <a:prstGeom prst="rect">
            <a:avLst/>
          </a:prstGeom>
          <a:solidFill>
            <a:srgbClr val="fceaea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9"/>
          <p:cNvSpPr/>
          <p:nvPr/>
        </p:nvSpPr>
        <p:spPr>
          <a:xfrm>
            <a:off x="2203560" y="1974960"/>
            <a:ext cx="5019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trike="noStrike" u="none">
                <a:solidFill>
                  <a:srgbClr val="c95b5b"/>
                </a:solidFill>
                <a:effectLst/>
                <a:uFillTx/>
                <a:latin typeface="Aptos"/>
              </a:rPr>
              <a:t>Disponibilidad ante falla de PayKlik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0"/>
          <p:cNvSpPr/>
          <p:nvPr/>
        </p:nvSpPr>
        <p:spPr>
          <a:xfrm>
            <a:off x="7296840" y="1837800"/>
            <a:ext cx="914040" cy="712800"/>
          </a:xfrm>
          <a:prstGeom prst="rect">
            <a:avLst/>
          </a:prstGeom>
          <a:solidFill>
            <a:srgbClr val="fceaea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1"/>
          <p:cNvSpPr/>
          <p:nvPr/>
        </p:nvSpPr>
        <p:spPr>
          <a:xfrm>
            <a:off x="7369920" y="1974960"/>
            <a:ext cx="767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c95b5b"/>
                </a:solidFill>
                <a:effectLst/>
                <a:uFillTx/>
                <a:latin typeface="Aptos"/>
              </a:rPr>
              <a:t>20/20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2"/>
          <p:cNvSpPr/>
          <p:nvPr/>
        </p:nvSpPr>
        <p:spPr>
          <a:xfrm>
            <a:off x="8211240" y="1837800"/>
            <a:ext cx="3108600" cy="712800"/>
          </a:xfrm>
          <a:prstGeom prst="rect">
            <a:avLst/>
          </a:prstGeom>
          <a:solidFill>
            <a:srgbClr val="fceaea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3"/>
          <p:cNvSpPr/>
          <p:nvPr/>
        </p:nvSpPr>
        <p:spPr>
          <a:xfrm>
            <a:off x="8284320" y="1974960"/>
            <a:ext cx="296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0 órdenes perdidas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4"/>
          <p:cNvSpPr/>
          <p:nvPr/>
        </p:nvSpPr>
        <p:spPr>
          <a:xfrm>
            <a:off x="713160" y="2551320"/>
            <a:ext cx="502560" cy="712800"/>
          </a:xfrm>
          <a:prstGeom prst="rect">
            <a:avLst/>
          </a:prstGeom>
          <a:solidFill>
            <a:srgbClr val="eaf2fd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5"/>
          <p:cNvSpPr/>
          <p:nvPr/>
        </p:nvSpPr>
        <p:spPr>
          <a:xfrm>
            <a:off x="786240" y="2688480"/>
            <a:ext cx="356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2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6"/>
          <p:cNvSpPr/>
          <p:nvPr/>
        </p:nvSpPr>
        <p:spPr>
          <a:xfrm>
            <a:off x="1216080" y="2551320"/>
            <a:ext cx="914040" cy="712800"/>
          </a:xfrm>
          <a:prstGeom prst="rect">
            <a:avLst/>
          </a:prstGeom>
          <a:solidFill>
            <a:srgbClr val="eaf2fd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7"/>
          <p:cNvSpPr/>
          <p:nvPr/>
        </p:nvSpPr>
        <p:spPr>
          <a:xfrm>
            <a:off x="1289160" y="2688480"/>
            <a:ext cx="767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CDU-01 / CDU-08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8"/>
          <p:cNvSpPr/>
          <p:nvPr/>
        </p:nvSpPr>
        <p:spPr>
          <a:xfrm>
            <a:off x="2130480" y="2551320"/>
            <a:ext cx="5166000" cy="712800"/>
          </a:xfrm>
          <a:prstGeom prst="rect">
            <a:avLst/>
          </a:prstGeom>
          <a:solidFill>
            <a:srgbClr val="eaf2fd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9"/>
          <p:cNvSpPr/>
          <p:nvPr/>
        </p:nvSpPr>
        <p:spPr>
          <a:xfrm>
            <a:off x="2203560" y="2688480"/>
            <a:ext cx="5019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Compra omnicanal + inventario centralizado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0"/>
          <p:cNvSpPr/>
          <p:nvPr/>
        </p:nvSpPr>
        <p:spPr>
          <a:xfrm>
            <a:off x="7296840" y="2551320"/>
            <a:ext cx="914040" cy="712800"/>
          </a:xfrm>
          <a:prstGeom prst="rect">
            <a:avLst/>
          </a:prstGeom>
          <a:solidFill>
            <a:srgbClr val="eaf2fd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1"/>
          <p:cNvSpPr/>
          <p:nvPr/>
        </p:nvSpPr>
        <p:spPr>
          <a:xfrm>
            <a:off x="7369920" y="2688480"/>
            <a:ext cx="767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19/20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2"/>
          <p:cNvSpPr/>
          <p:nvPr/>
        </p:nvSpPr>
        <p:spPr>
          <a:xfrm>
            <a:off x="8211240" y="2551320"/>
            <a:ext cx="3108600" cy="712800"/>
          </a:xfrm>
          <a:prstGeom prst="rect">
            <a:avLst/>
          </a:prstGeom>
          <a:solidFill>
            <a:srgbClr val="eaf2fd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3"/>
          <p:cNvSpPr/>
          <p:nvPr/>
        </p:nvSpPr>
        <p:spPr>
          <a:xfrm>
            <a:off x="8284320" y="2688480"/>
            <a:ext cx="296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Continuidad entre canales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4"/>
          <p:cNvSpPr/>
          <p:nvPr/>
        </p:nvSpPr>
        <p:spPr>
          <a:xfrm>
            <a:off x="713160" y="3264480"/>
            <a:ext cx="502560" cy="712800"/>
          </a:xfrm>
          <a:prstGeom prst="rect">
            <a:avLst/>
          </a:prstGeom>
          <a:solidFill>
            <a:srgbClr val="eaf2fd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5"/>
          <p:cNvSpPr/>
          <p:nvPr/>
        </p:nvSpPr>
        <p:spPr>
          <a:xfrm>
            <a:off x="786240" y="3401640"/>
            <a:ext cx="356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3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36"/>
          <p:cNvSpPr/>
          <p:nvPr/>
        </p:nvSpPr>
        <p:spPr>
          <a:xfrm>
            <a:off x="1216080" y="3264480"/>
            <a:ext cx="914040" cy="712800"/>
          </a:xfrm>
          <a:prstGeom prst="rect">
            <a:avLst/>
          </a:prstGeom>
          <a:solidFill>
            <a:srgbClr val="eaf2fd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7"/>
          <p:cNvSpPr/>
          <p:nvPr/>
        </p:nvSpPr>
        <p:spPr>
          <a:xfrm>
            <a:off x="1289160" y="3401640"/>
            <a:ext cx="767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DC-02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8"/>
          <p:cNvSpPr/>
          <p:nvPr/>
        </p:nvSpPr>
        <p:spPr>
          <a:xfrm>
            <a:off x="2130480" y="3264480"/>
            <a:ext cx="5166000" cy="712800"/>
          </a:xfrm>
          <a:prstGeom prst="rect">
            <a:avLst/>
          </a:prstGeom>
          <a:solidFill>
            <a:srgbClr val="eaf2fd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9"/>
          <p:cNvSpPr/>
          <p:nvPr/>
        </p:nvSpPr>
        <p:spPr>
          <a:xfrm>
            <a:off x="2203560" y="3401640"/>
            <a:ext cx="5019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Escalabilidad para Black Friday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40"/>
          <p:cNvSpPr/>
          <p:nvPr/>
        </p:nvSpPr>
        <p:spPr>
          <a:xfrm>
            <a:off x="7296840" y="3264480"/>
            <a:ext cx="914040" cy="712800"/>
          </a:xfrm>
          <a:prstGeom prst="rect">
            <a:avLst/>
          </a:prstGeom>
          <a:solidFill>
            <a:srgbClr val="eaf2fd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1"/>
          <p:cNvSpPr/>
          <p:nvPr/>
        </p:nvSpPr>
        <p:spPr>
          <a:xfrm>
            <a:off x="7369920" y="3401640"/>
            <a:ext cx="767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19/20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42"/>
          <p:cNvSpPr/>
          <p:nvPr/>
        </p:nvSpPr>
        <p:spPr>
          <a:xfrm>
            <a:off x="8211240" y="3264480"/>
            <a:ext cx="3108600" cy="712800"/>
          </a:xfrm>
          <a:prstGeom prst="rect">
            <a:avLst/>
          </a:prstGeom>
          <a:solidFill>
            <a:srgbClr val="eaf2fd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43"/>
          <p:cNvSpPr/>
          <p:nvPr/>
        </p:nvSpPr>
        <p:spPr>
          <a:xfrm>
            <a:off x="8284320" y="3401640"/>
            <a:ext cx="296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Soportar 8× tráfico normal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44"/>
          <p:cNvSpPr/>
          <p:nvPr/>
        </p:nvSpPr>
        <p:spPr>
          <a:xfrm>
            <a:off x="713160" y="3977640"/>
            <a:ext cx="502560" cy="712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5"/>
          <p:cNvSpPr/>
          <p:nvPr/>
        </p:nvSpPr>
        <p:spPr>
          <a:xfrm>
            <a:off x="786240" y="4114800"/>
            <a:ext cx="356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4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46"/>
          <p:cNvSpPr/>
          <p:nvPr/>
        </p:nvSpPr>
        <p:spPr>
          <a:xfrm>
            <a:off x="1216080" y="3977640"/>
            <a:ext cx="914040" cy="712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7"/>
          <p:cNvSpPr/>
          <p:nvPr/>
        </p:nvSpPr>
        <p:spPr>
          <a:xfrm>
            <a:off x="1289160" y="4114800"/>
            <a:ext cx="767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DC-07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48"/>
          <p:cNvSpPr/>
          <p:nvPr/>
        </p:nvSpPr>
        <p:spPr>
          <a:xfrm>
            <a:off x="2130480" y="3977640"/>
            <a:ext cx="5166000" cy="712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49"/>
          <p:cNvSpPr/>
          <p:nvPr/>
        </p:nvSpPr>
        <p:spPr>
          <a:xfrm>
            <a:off x="2203560" y="4114800"/>
            <a:ext cx="5019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Auditabilidad y trazabilidad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50"/>
          <p:cNvSpPr/>
          <p:nvPr/>
        </p:nvSpPr>
        <p:spPr>
          <a:xfrm>
            <a:off x="7296840" y="3977640"/>
            <a:ext cx="914040" cy="712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51"/>
          <p:cNvSpPr/>
          <p:nvPr/>
        </p:nvSpPr>
        <p:spPr>
          <a:xfrm>
            <a:off x="7369920" y="4114800"/>
            <a:ext cx="767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17/20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52"/>
          <p:cNvSpPr/>
          <p:nvPr/>
        </p:nvSpPr>
        <p:spPr>
          <a:xfrm>
            <a:off x="8211240" y="3977640"/>
            <a:ext cx="3108600" cy="712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53"/>
          <p:cNvSpPr/>
          <p:nvPr/>
        </p:nvSpPr>
        <p:spPr>
          <a:xfrm>
            <a:off x="8284320" y="4114800"/>
            <a:ext cx="296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100% de operaciones auditables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54"/>
          <p:cNvSpPr/>
          <p:nvPr/>
        </p:nvSpPr>
        <p:spPr>
          <a:xfrm>
            <a:off x="713160" y="4690800"/>
            <a:ext cx="502560" cy="712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5"/>
          <p:cNvSpPr/>
          <p:nvPr/>
        </p:nvSpPr>
        <p:spPr>
          <a:xfrm>
            <a:off x="786240" y="4827960"/>
            <a:ext cx="356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5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56"/>
          <p:cNvSpPr/>
          <p:nvPr/>
        </p:nvSpPr>
        <p:spPr>
          <a:xfrm>
            <a:off x="1216080" y="4690800"/>
            <a:ext cx="914040" cy="712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57"/>
          <p:cNvSpPr/>
          <p:nvPr/>
        </p:nvSpPr>
        <p:spPr>
          <a:xfrm>
            <a:off x="1289160" y="4827960"/>
            <a:ext cx="767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DC-05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58"/>
          <p:cNvSpPr/>
          <p:nvPr/>
        </p:nvSpPr>
        <p:spPr>
          <a:xfrm>
            <a:off x="2130480" y="4690800"/>
            <a:ext cx="5166000" cy="712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59"/>
          <p:cNvSpPr/>
          <p:nvPr/>
        </p:nvSpPr>
        <p:spPr>
          <a:xfrm>
            <a:off x="2203560" y="4827960"/>
            <a:ext cx="5019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Integración confiable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60"/>
          <p:cNvSpPr/>
          <p:nvPr/>
        </p:nvSpPr>
        <p:spPr>
          <a:xfrm>
            <a:off x="7296840" y="4690800"/>
            <a:ext cx="914040" cy="712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61"/>
          <p:cNvSpPr/>
          <p:nvPr/>
        </p:nvSpPr>
        <p:spPr>
          <a:xfrm>
            <a:off x="7369920" y="4827960"/>
            <a:ext cx="767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17/20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62"/>
          <p:cNvSpPr/>
          <p:nvPr/>
        </p:nvSpPr>
        <p:spPr>
          <a:xfrm>
            <a:off x="8211240" y="4690800"/>
            <a:ext cx="3108600" cy="712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63"/>
          <p:cNvSpPr/>
          <p:nvPr/>
        </p:nvSpPr>
        <p:spPr>
          <a:xfrm>
            <a:off x="8284320" y="4827960"/>
            <a:ext cx="2962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0 eventos perdidos silenciosamente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64"/>
          <p:cNvSpPr/>
          <p:nvPr/>
        </p:nvSpPr>
        <p:spPr>
          <a:xfrm>
            <a:off x="1463040" y="5632560"/>
            <a:ext cx="9235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Prioridad arquitectónica: preservar la orden y su evidencia, incluso cuando un tercero falla.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sldNum" idx="8"/>
          </p:nvPr>
        </p:nvSpPr>
        <p:spPr>
          <a:xfrm>
            <a:off x="11292840" y="6546960"/>
            <a:ext cx="36540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6B14A6-276E-4E5F-879A-1D321A3EBBBC}" type="slidenum">
              <a: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640080" y="255960"/>
            <a:ext cx="1325520" cy="237240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713160" y="306360"/>
            <a:ext cx="11793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ADR-0001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62172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Decisión arquitectónica principal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640080" y="85968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  <a:ea typeface="Aptos"/>
              </a:rPr>
              <a:t>Monolito modular con integración asíncrona mediante broker de mensajería.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4"/>
          <p:cNvSpPr/>
          <p:nvPr/>
        </p:nvSpPr>
        <p:spPr>
          <a:xfrm>
            <a:off x="777240" y="1508760"/>
            <a:ext cx="10652400" cy="776880"/>
          </a:xfrm>
          <a:prstGeom prst="roundRect">
            <a:avLst>
              <a:gd name="adj" fmla="val 5882"/>
            </a:avLst>
          </a:prstGeom>
          <a:solidFill>
            <a:srgbClr val="eaf2fd"/>
          </a:solidFill>
          <a:ln w="12700">
            <a:solidFill>
              <a:srgbClr val="aac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1097280" y="1774080"/>
            <a:ext cx="9966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Canales omnicanal: tienda · web · app · centro de atención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6"/>
          <p:cNvSpPr/>
          <p:nvPr/>
        </p:nvSpPr>
        <p:spPr>
          <a:xfrm>
            <a:off x="6108120" y="2286000"/>
            <a:ext cx="360" cy="411480"/>
          </a:xfrm>
          <a:prstGeom prst="line">
            <a:avLst/>
          </a:prstGeom>
          <a:ln w="25400">
            <a:solidFill>
              <a:srgbClr val="5a66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7"/>
          <p:cNvSpPr/>
          <p:nvPr/>
        </p:nvSpPr>
        <p:spPr>
          <a:xfrm>
            <a:off x="4343400" y="2670120"/>
            <a:ext cx="3520080" cy="731160"/>
          </a:xfrm>
          <a:prstGeom prst="roundRect">
            <a:avLst>
              <a:gd name="adj" fmla="val 6250"/>
            </a:avLst>
          </a:prstGeom>
          <a:solidFill>
            <a:srgbClr val="eaf5e9"/>
          </a:solidFill>
          <a:ln w="12700">
            <a:solidFill>
              <a:srgbClr val="91c4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4617720" y="2907720"/>
            <a:ext cx="2971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f7d46"/>
                </a:solidFill>
                <a:effectLst/>
                <a:uFillTx/>
                <a:latin typeface="Aptos"/>
              </a:rPr>
              <a:t>Orquestación de compra omnicanal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9"/>
          <p:cNvSpPr/>
          <p:nvPr/>
        </p:nvSpPr>
        <p:spPr>
          <a:xfrm>
            <a:off x="914400" y="3886200"/>
            <a:ext cx="1416960" cy="639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987480" y="4105800"/>
            <a:ext cx="1270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Inventario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1"/>
          <p:cNvSpPr/>
          <p:nvPr/>
        </p:nvSpPr>
        <p:spPr>
          <a:xfrm flipH="1">
            <a:off x="1627560" y="3401280"/>
            <a:ext cx="4480560" cy="457200"/>
          </a:xfrm>
          <a:prstGeom prst="line">
            <a:avLst/>
          </a:prstGeom>
          <a:ln w="14605">
            <a:solidFill>
              <a:srgbClr val="95a0a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2"/>
          <p:cNvSpPr/>
          <p:nvPr/>
        </p:nvSpPr>
        <p:spPr>
          <a:xfrm>
            <a:off x="3154680" y="3886200"/>
            <a:ext cx="1416960" cy="639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3"/>
          <p:cNvSpPr/>
          <p:nvPr/>
        </p:nvSpPr>
        <p:spPr>
          <a:xfrm>
            <a:off x="3227760" y="4105800"/>
            <a:ext cx="1270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Pagos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4"/>
          <p:cNvSpPr/>
          <p:nvPr/>
        </p:nvSpPr>
        <p:spPr>
          <a:xfrm flipH="1">
            <a:off x="3867840" y="3401280"/>
            <a:ext cx="2240280" cy="457200"/>
          </a:xfrm>
          <a:prstGeom prst="line">
            <a:avLst/>
          </a:prstGeom>
          <a:ln w="14605">
            <a:solidFill>
              <a:srgbClr val="95a0a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5"/>
          <p:cNvSpPr/>
          <p:nvPr/>
        </p:nvSpPr>
        <p:spPr>
          <a:xfrm>
            <a:off x="5394960" y="3886200"/>
            <a:ext cx="1416960" cy="639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6"/>
          <p:cNvSpPr/>
          <p:nvPr/>
        </p:nvSpPr>
        <p:spPr>
          <a:xfrm>
            <a:off x="5468040" y="4105800"/>
            <a:ext cx="1270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Facturación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7"/>
          <p:cNvSpPr/>
          <p:nvPr/>
        </p:nvSpPr>
        <p:spPr>
          <a:xfrm>
            <a:off x="6108120" y="3401280"/>
            <a:ext cx="360" cy="457200"/>
          </a:xfrm>
          <a:prstGeom prst="line">
            <a:avLst/>
          </a:prstGeom>
          <a:ln w="14605">
            <a:solidFill>
              <a:srgbClr val="95a0a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8"/>
          <p:cNvSpPr/>
          <p:nvPr/>
        </p:nvSpPr>
        <p:spPr>
          <a:xfrm>
            <a:off x="7635240" y="3886200"/>
            <a:ext cx="1416960" cy="639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9"/>
          <p:cNvSpPr/>
          <p:nvPr/>
        </p:nvSpPr>
        <p:spPr>
          <a:xfrm>
            <a:off x="7708320" y="4105800"/>
            <a:ext cx="1270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Logística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0"/>
          <p:cNvSpPr/>
          <p:nvPr/>
        </p:nvSpPr>
        <p:spPr>
          <a:xfrm>
            <a:off x="6108120" y="3401280"/>
            <a:ext cx="2240280" cy="457200"/>
          </a:xfrm>
          <a:prstGeom prst="line">
            <a:avLst/>
          </a:prstGeom>
          <a:ln w="14605">
            <a:solidFill>
              <a:srgbClr val="95a0a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1"/>
          <p:cNvSpPr/>
          <p:nvPr/>
        </p:nvSpPr>
        <p:spPr>
          <a:xfrm>
            <a:off x="9875520" y="3886200"/>
            <a:ext cx="1416960" cy="639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2"/>
          <p:cNvSpPr/>
          <p:nvPr/>
        </p:nvSpPr>
        <p:spPr>
          <a:xfrm>
            <a:off x="9948600" y="4105800"/>
            <a:ext cx="1270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Auditoría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3"/>
          <p:cNvSpPr/>
          <p:nvPr/>
        </p:nvSpPr>
        <p:spPr>
          <a:xfrm>
            <a:off x="6108120" y="3401280"/>
            <a:ext cx="4480560" cy="457200"/>
          </a:xfrm>
          <a:prstGeom prst="line">
            <a:avLst/>
          </a:prstGeom>
          <a:ln w="14605">
            <a:solidFill>
              <a:srgbClr val="95a0a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4"/>
          <p:cNvSpPr/>
          <p:nvPr/>
        </p:nvSpPr>
        <p:spPr>
          <a:xfrm>
            <a:off x="3337560" y="4892040"/>
            <a:ext cx="5531760" cy="712800"/>
          </a:xfrm>
          <a:prstGeom prst="roundRect">
            <a:avLst>
              <a:gd name="adj" fmla="val 7692"/>
            </a:avLst>
          </a:prstGeom>
          <a:solidFill>
            <a:srgbClr val="fff6d9"/>
          </a:solidFill>
          <a:ln w="12700">
            <a:solidFill>
              <a:srgbClr val="e6c1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5"/>
          <p:cNvSpPr/>
          <p:nvPr/>
        </p:nvSpPr>
        <p:spPr>
          <a:xfrm>
            <a:off x="3611880" y="5129640"/>
            <a:ext cx="4983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trike="noStrike" u="none">
                <a:solidFill>
                  <a:srgbClr val="6d5500"/>
                </a:solidFill>
                <a:effectLst/>
                <a:uFillTx/>
                <a:latin typeface="Aptos"/>
              </a:rPr>
              <a:t>Message Broker — integración asíncrona, reintentos y desacoplamiento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6"/>
          <p:cNvSpPr/>
          <p:nvPr/>
        </p:nvSpPr>
        <p:spPr>
          <a:xfrm>
            <a:off x="1627560" y="4535280"/>
            <a:ext cx="4480560" cy="347400"/>
          </a:xfrm>
          <a:prstGeom prst="line">
            <a:avLst/>
          </a:prstGeom>
          <a:ln w="12700">
            <a:solidFill>
              <a:srgbClr val="a3a9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7"/>
          <p:cNvSpPr/>
          <p:nvPr/>
        </p:nvSpPr>
        <p:spPr>
          <a:xfrm>
            <a:off x="3867840" y="4535280"/>
            <a:ext cx="2240280" cy="347400"/>
          </a:xfrm>
          <a:prstGeom prst="line">
            <a:avLst/>
          </a:prstGeom>
          <a:ln w="12700">
            <a:solidFill>
              <a:srgbClr val="a3a9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8"/>
          <p:cNvSpPr/>
          <p:nvPr/>
        </p:nvSpPr>
        <p:spPr>
          <a:xfrm>
            <a:off x="6108120" y="4535280"/>
            <a:ext cx="360" cy="347400"/>
          </a:xfrm>
          <a:prstGeom prst="line">
            <a:avLst/>
          </a:prstGeom>
          <a:ln w="12700">
            <a:solidFill>
              <a:srgbClr val="a3a9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9"/>
          <p:cNvSpPr/>
          <p:nvPr/>
        </p:nvSpPr>
        <p:spPr>
          <a:xfrm flipH="1">
            <a:off x="6108120" y="4535280"/>
            <a:ext cx="2240280" cy="347400"/>
          </a:xfrm>
          <a:prstGeom prst="line">
            <a:avLst/>
          </a:prstGeom>
          <a:ln w="12700">
            <a:solidFill>
              <a:srgbClr val="a3a9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30"/>
          <p:cNvSpPr/>
          <p:nvPr/>
        </p:nvSpPr>
        <p:spPr>
          <a:xfrm flipH="1">
            <a:off x="6108120" y="4535280"/>
            <a:ext cx="4480560" cy="347400"/>
          </a:xfrm>
          <a:prstGeom prst="line">
            <a:avLst/>
          </a:prstGeom>
          <a:ln w="12700">
            <a:solidFill>
              <a:srgbClr val="a3a9b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31"/>
          <p:cNvSpPr/>
          <p:nvPr/>
        </p:nvSpPr>
        <p:spPr>
          <a:xfrm>
            <a:off x="841320" y="5797440"/>
            <a:ext cx="3245760" cy="310680"/>
          </a:xfrm>
          <a:prstGeom prst="roundRect">
            <a:avLst>
              <a:gd name="adj" fmla="val 23529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2"/>
          <p:cNvSpPr/>
          <p:nvPr/>
        </p:nvSpPr>
        <p:spPr>
          <a:xfrm>
            <a:off x="914400" y="5861160"/>
            <a:ext cx="30996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Operable por el equipo actual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33"/>
          <p:cNvSpPr/>
          <p:nvPr/>
        </p:nvSpPr>
        <p:spPr>
          <a:xfrm>
            <a:off x="4480560" y="5797440"/>
            <a:ext cx="3245760" cy="310680"/>
          </a:xfrm>
          <a:prstGeom prst="roundRect">
            <a:avLst>
              <a:gd name="adj" fmla="val 23529"/>
            </a:avLst>
          </a:prstGeom>
          <a:solidFill>
            <a:srgbClr val="eaf5e9"/>
          </a:solidFill>
          <a:ln w="12700">
            <a:solidFill>
              <a:srgbClr val="eaf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4"/>
          <p:cNvSpPr/>
          <p:nvPr/>
        </p:nvSpPr>
        <p:spPr>
          <a:xfrm>
            <a:off x="4553640" y="5861160"/>
            <a:ext cx="30996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3f7d46"/>
                </a:solidFill>
                <a:effectLst/>
                <a:uFillTx/>
                <a:latin typeface="Aptos"/>
              </a:rPr>
              <a:t>Aísla fallas de terceros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5"/>
          <p:cNvSpPr/>
          <p:nvPr/>
        </p:nvSpPr>
        <p:spPr>
          <a:xfrm>
            <a:off x="8119800" y="5797440"/>
            <a:ext cx="3245760" cy="310680"/>
          </a:xfrm>
          <a:prstGeom prst="roundRect">
            <a:avLst>
              <a:gd name="adj" fmla="val 23529"/>
            </a:avLst>
          </a:prstGeom>
          <a:solidFill>
            <a:srgbClr val="fff6d9"/>
          </a:solidFill>
          <a:ln w="12700">
            <a:solidFill>
              <a:srgbClr val="fff6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6"/>
          <p:cNvSpPr/>
          <p:nvPr/>
        </p:nvSpPr>
        <p:spPr>
          <a:xfrm>
            <a:off x="8192880" y="5861160"/>
            <a:ext cx="30996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7a5a0a"/>
                </a:solidFill>
                <a:effectLst/>
                <a:uFillTx/>
                <a:latin typeface="Aptos"/>
              </a:rPr>
              <a:t>Evolucionable a nube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1"/>
          <p:cNvSpPr>
            <a:spLocks noGrp="1"/>
          </p:cNvSpPr>
          <p:nvPr>
            <p:ph type="sldNum" idx="9"/>
          </p:nvPr>
        </p:nvSpPr>
        <p:spPr>
          <a:xfrm>
            <a:off x="11292840" y="6546960"/>
            <a:ext cx="36540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FEDEED-3418-4029-A882-4B01FF479FDA}" type="slidenum">
              <a: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0"/>
          <p:cNvSpPr/>
          <p:nvPr/>
        </p:nvSpPr>
        <p:spPr>
          <a:xfrm>
            <a:off x="640080" y="255960"/>
            <a:ext cx="1371240" cy="237240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713160" y="306360"/>
            <a:ext cx="12250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DECISIONES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"/>
          <p:cNvSpPr/>
          <p:nvPr/>
        </p:nvSpPr>
        <p:spPr>
          <a:xfrm>
            <a:off x="62172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Cinco ADR que forman una sola arquitectura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"/>
          <p:cNvSpPr/>
          <p:nvPr/>
        </p:nvSpPr>
        <p:spPr>
          <a:xfrm>
            <a:off x="640080" y="85968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  <a:ea typeface="Aptos"/>
              </a:rPr>
              <a:t>No son decisiones aisladas: cada una extiende la estrategia base de resiliencia y evolución.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4"/>
          <p:cNvSpPr/>
          <p:nvPr/>
        </p:nvSpPr>
        <p:spPr>
          <a:xfrm>
            <a:off x="749880" y="1353240"/>
            <a:ext cx="10716480" cy="749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5"/>
          <p:cNvSpPr/>
          <p:nvPr/>
        </p:nvSpPr>
        <p:spPr>
          <a:xfrm>
            <a:off x="932760" y="1527120"/>
            <a:ext cx="987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ADR-0001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6"/>
          <p:cNvSpPr/>
          <p:nvPr/>
        </p:nvSpPr>
        <p:spPr>
          <a:xfrm>
            <a:off x="2030040" y="147204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Estilo arquitectónico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7"/>
          <p:cNvSpPr/>
          <p:nvPr/>
        </p:nvSpPr>
        <p:spPr>
          <a:xfrm>
            <a:off x="4206240" y="147204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Monolito modular + broker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8"/>
          <p:cNvSpPr/>
          <p:nvPr/>
        </p:nvSpPr>
        <p:spPr>
          <a:xfrm>
            <a:off x="8339400" y="147204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Consistencia eventual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9"/>
          <p:cNvSpPr/>
          <p:nvPr/>
        </p:nvSpPr>
        <p:spPr>
          <a:xfrm>
            <a:off x="749880" y="2286000"/>
            <a:ext cx="10716480" cy="749520"/>
          </a:xfrm>
          <a:prstGeom prst="roundRect">
            <a:avLst>
              <a:gd name="adj" fmla="val 4878"/>
            </a:avLst>
          </a:prstGeom>
          <a:solidFill>
            <a:srgbClr val="f9fafc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0"/>
          <p:cNvSpPr/>
          <p:nvPr/>
        </p:nvSpPr>
        <p:spPr>
          <a:xfrm>
            <a:off x="932760" y="2459880"/>
            <a:ext cx="987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ADR-0002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1"/>
          <p:cNvSpPr/>
          <p:nvPr/>
        </p:nvSpPr>
        <p:spPr>
          <a:xfrm>
            <a:off x="2030040" y="240480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Resiliencia de pagos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2"/>
          <p:cNvSpPr/>
          <p:nvPr/>
        </p:nvSpPr>
        <p:spPr>
          <a:xfrm>
            <a:off x="4206240" y="240480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Outbox + circuit breaker + reintentos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3"/>
          <p:cNvSpPr/>
          <p:nvPr/>
        </p:nvSpPr>
        <p:spPr>
          <a:xfrm>
            <a:off x="8339400" y="240480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“Pago en proceso” ante caída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4"/>
          <p:cNvSpPr/>
          <p:nvPr/>
        </p:nvSpPr>
        <p:spPr>
          <a:xfrm>
            <a:off x="749880" y="3218760"/>
            <a:ext cx="10716480" cy="749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5"/>
          <p:cNvSpPr/>
          <p:nvPr/>
        </p:nvSpPr>
        <p:spPr>
          <a:xfrm>
            <a:off x="932760" y="3392280"/>
            <a:ext cx="987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ADR-0003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6"/>
          <p:cNvSpPr/>
          <p:nvPr/>
        </p:nvSpPr>
        <p:spPr>
          <a:xfrm>
            <a:off x="2030040" y="333756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Integración ERP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7"/>
          <p:cNvSpPr/>
          <p:nvPr/>
        </p:nvSpPr>
        <p:spPr>
          <a:xfrm>
            <a:off x="4206240" y="333756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Batch CSV/XML idempotente cada 30 min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8"/>
          <p:cNvSpPr/>
          <p:nvPr/>
        </p:nvSpPr>
        <p:spPr>
          <a:xfrm>
            <a:off x="8339400" y="333756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ERP no es tiempo real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9"/>
          <p:cNvSpPr/>
          <p:nvPr/>
        </p:nvSpPr>
        <p:spPr>
          <a:xfrm>
            <a:off x="749880" y="4151520"/>
            <a:ext cx="10716480" cy="749520"/>
          </a:xfrm>
          <a:prstGeom prst="roundRect">
            <a:avLst>
              <a:gd name="adj" fmla="val 4878"/>
            </a:avLst>
          </a:prstGeom>
          <a:solidFill>
            <a:srgbClr val="f9fafc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0"/>
          <p:cNvSpPr/>
          <p:nvPr/>
        </p:nvSpPr>
        <p:spPr>
          <a:xfrm>
            <a:off x="932760" y="4325040"/>
            <a:ext cx="987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ADR-0004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1"/>
          <p:cNvSpPr/>
          <p:nvPr/>
        </p:nvSpPr>
        <p:spPr>
          <a:xfrm>
            <a:off x="2030040" y="427032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Terceros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2"/>
          <p:cNvSpPr/>
          <p:nvPr/>
        </p:nvSpPr>
        <p:spPr>
          <a:xfrm>
            <a:off x="4206240" y="427032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Tolerancia diferenciada + DLQ + best-effort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3"/>
          <p:cNvSpPr/>
          <p:nvPr/>
        </p:nvSpPr>
        <p:spPr>
          <a:xfrm>
            <a:off x="8339400" y="427032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Algunas fallas escalan a humano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4"/>
          <p:cNvSpPr/>
          <p:nvPr/>
        </p:nvSpPr>
        <p:spPr>
          <a:xfrm>
            <a:off x="749880" y="5083920"/>
            <a:ext cx="10716480" cy="749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5"/>
          <p:cNvSpPr/>
          <p:nvPr/>
        </p:nvSpPr>
        <p:spPr>
          <a:xfrm>
            <a:off x="932760" y="5257800"/>
            <a:ext cx="987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ADR-0005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6"/>
          <p:cNvSpPr/>
          <p:nvPr/>
        </p:nvSpPr>
        <p:spPr>
          <a:xfrm>
            <a:off x="2030040" y="520308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Despliegue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7"/>
          <p:cNvSpPr/>
          <p:nvPr/>
        </p:nvSpPr>
        <p:spPr>
          <a:xfrm>
            <a:off x="4206240" y="520308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Docker on-premises → nube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8"/>
          <p:cNvSpPr/>
          <p:nvPr/>
        </p:nvSpPr>
        <p:spPr>
          <a:xfrm>
            <a:off x="8339400" y="520308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Sin autoescalado real en Fase 1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9"/>
          <p:cNvSpPr/>
          <p:nvPr/>
        </p:nvSpPr>
        <p:spPr>
          <a:xfrm>
            <a:off x="2011680" y="6080760"/>
            <a:ext cx="8183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Hilo conductor: desacoplar → proteger → reintentar → auditar → evolucionar.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sldNum" idx="10"/>
          </p:nvPr>
        </p:nvSpPr>
        <p:spPr>
          <a:xfrm>
            <a:off x="11292840" y="6546960"/>
            <a:ext cx="36540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A60BB7-FFF6-41C6-AC24-9C39405EC1C2}" type="slidenum">
              <a: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640080" y="255960"/>
            <a:ext cx="959760" cy="237240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713160" y="306360"/>
            <a:ext cx="8136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VISTA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"/>
          <p:cNvSpPr/>
          <p:nvPr/>
        </p:nvSpPr>
        <p:spPr>
          <a:xfrm>
            <a:off x="62172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Diagrama de contexto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"/>
          <p:cNvSpPr/>
          <p:nvPr/>
        </p:nvSpPr>
        <p:spPr>
          <a:xfrm>
            <a:off x="640080" y="85968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  <a:ea typeface="Aptos"/>
              </a:rPr>
              <a:t>Qué está dentro de SGO-Logic y con qué actores/sistemas externos se relaciona.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9" name="Image 0" descr="/mnt/data/contexto.png"/>
          <p:cNvPicPr/>
          <p:nvPr/>
        </p:nvPicPr>
        <p:blipFill>
          <a:blip r:embed="rId1"/>
          <a:stretch/>
        </p:blipFill>
        <p:spPr>
          <a:xfrm>
            <a:off x="1556280" y="1325880"/>
            <a:ext cx="6662160" cy="498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Shape 4"/>
          <p:cNvSpPr/>
          <p:nvPr/>
        </p:nvSpPr>
        <p:spPr>
          <a:xfrm>
            <a:off x="9281160" y="1444680"/>
            <a:ext cx="2239920" cy="434304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5"/>
          <p:cNvSpPr/>
          <p:nvPr/>
        </p:nvSpPr>
        <p:spPr>
          <a:xfrm>
            <a:off x="9482400" y="1609200"/>
            <a:ext cx="1837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VISTA EXTERNA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6"/>
          <p:cNvSpPr/>
          <p:nvPr/>
        </p:nvSpPr>
        <p:spPr>
          <a:xfrm>
            <a:off x="9482400" y="1865520"/>
            <a:ext cx="1837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Cómo leerlo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7"/>
          <p:cNvSpPr/>
          <p:nvPr/>
        </p:nvSpPr>
        <p:spPr>
          <a:xfrm>
            <a:off x="9482400" y="2286000"/>
            <a:ext cx="1837440" cy="335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• El cliente y el personal operan a través de SGO-Logic.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• ERP-Core y POS permanecen intactos.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• PayKlik, LogiExpress, SAT y notificaciones son dependencias externas.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• La capa central coordina la operación omnicanal.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1"/>
          <p:cNvSpPr>
            <a:spLocks noGrp="1"/>
          </p:cNvSpPr>
          <p:nvPr>
            <p:ph type="sldNum" idx="11"/>
          </p:nvPr>
        </p:nvSpPr>
        <p:spPr>
          <a:xfrm>
            <a:off x="11292840" y="6546960"/>
            <a:ext cx="36540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E765AA-AB1D-43B8-B440-0CF9375D3392}" type="slidenum">
              <a: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/>
          <p:cNvSpPr/>
          <p:nvPr/>
        </p:nvSpPr>
        <p:spPr>
          <a:xfrm>
            <a:off x="640080" y="255960"/>
            <a:ext cx="959760" cy="237240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"/>
          <p:cNvSpPr/>
          <p:nvPr/>
        </p:nvSpPr>
        <p:spPr>
          <a:xfrm>
            <a:off x="713160" y="306360"/>
            <a:ext cx="8136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VISTA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"/>
          <p:cNvSpPr/>
          <p:nvPr/>
        </p:nvSpPr>
        <p:spPr>
          <a:xfrm>
            <a:off x="62172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Diagrama de bloques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"/>
          <p:cNvSpPr/>
          <p:nvPr/>
        </p:nvSpPr>
        <p:spPr>
          <a:xfrm>
            <a:off x="640080" y="85968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  <a:ea typeface="Aptos"/>
              </a:rPr>
              <a:t>La arquitectura se organiza alrededor de una orquestación central y capacidades modulares.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9" name="Image 0" descr="/mnt/data/bloques.png"/>
          <p:cNvPicPr/>
          <p:nvPr/>
        </p:nvPicPr>
        <p:blipFill>
          <a:blip r:embed="rId1"/>
          <a:stretch/>
        </p:blipFill>
        <p:spPr>
          <a:xfrm>
            <a:off x="1852560" y="1298520"/>
            <a:ext cx="5520960" cy="50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Shape 4"/>
          <p:cNvSpPr/>
          <p:nvPr/>
        </p:nvSpPr>
        <p:spPr>
          <a:xfrm>
            <a:off x="8823960" y="1463040"/>
            <a:ext cx="2697120" cy="1142640"/>
          </a:xfrm>
          <a:prstGeom prst="roundRect">
            <a:avLst>
              <a:gd name="adj" fmla="val 4800"/>
            </a:avLst>
          </a:prstGeom>
          <a:solidFill>
            <a:srgbClr val="eaf2fd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5"/>
          <p:cNvSpPr/>
          <p:nvPr/>
        </p:nvSpPr>
        <p:spPr>
          <a:xfrm>
            <a:off x="9025200" y="1664280"/>
            <a:ext cx="2294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Canales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6"/>
          <p:cNvSpPr/>
          <p:nvPr/>
        </p:nvSpPr>
        <p:spPr>
          <a:xfrm>
            <a:off x="9025200" y="2121480"/>
            <a:ext cx="2294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Centro de atención, app móvil, web y tienda física.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7"/>
          <p:cNvSpPr/>
          <p:nvPr/>
        </p:nvSpPr>
        <p:spPr>
          <a:xfrm>
            <a:off x="8823960" y="2788920"/>
            <a:ext cx="2697120" cy="1298160"/>
          </a:xfrm>
          <a:prstGeom prst="roundRect">
            <a:avLst>
              <a:gd name="adj" fmla="val 4225"/>
            </a:avLst>
          </a:prstGeom>
          <a:solidFill>
            <a:srgbClr val="eaf5e9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8"/>
          <p:cNvSpPr/>
          <p:nvPr/>
        </p:nvSpPr>
        <p:spPr>
          <a:xfrm>
            <a:off x="9025200" y="2990160"/>
            <a:ext cx="2294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Backbone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9"/>
          <p:cNvSpPr/>
          <p:nvPr/>
        </p:nvSpPr>
        <p:spPr>
          <a:xfrm>
            <a:off x="9025200" y="3447360"/>
            <a:ext cx="2294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Orquestación, pagos resilientes, inventario, logística, legacy y auditoría.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0"/>
          <p:cNvSpPr/>
          <p:nvPr/>
        </p:nvSpPr>
        <p:spPr>
          <a:xfrm>
            <a:off x="8823960" y="4297680"/>
            <a:ext cx="2697120" cy="1298160"/>
          </a:xfrm>
          <a:prstGeom prst="roundRect">
            <a:avLst>
              <a:gd name="adj" fmla="val 4225"/>
            </a:avLst>
          </a:prstGeom>
          <a:solidFill>
            <a:srgbClr val="fff6d9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1"/>
          <p:cNvSpPr/>
          <p:nvPr/>
        </p:nvSpPr>
        <p:spPr>
          <a:xfrm>
            <a:off x="9025200" y="4498920"/>
            <a:ext cx="2294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Terceros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2"/>
          <p:cNvSpPr/>
          <p:nvPr/>
        </p:nvSpPr>
        <p:spPr>
          <a:xfrm>
            <a:off x="9025200" y="4956120"/>
            <a:ext cx="2294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SAT, notificaciones, PayKlik, POS, LogiExpress y ERP-Core.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sldNum" idx="12"/>
          </p:nvPr>
        </p:nvSpPr>
        <p:spPr>
          <a:xfrm>
            <a:off x="11292840" y="6546960"/>
            <a:ext cx="36540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D66EA5-1F90-4151-B805-3BB0ACA5BF6B}" type="slidenum">
              <a: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640080" y="255960"/>
            <a:ext cx="959760" cy="237240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"/>
          <p:cNvSpPr/>
          <p:nvPr/>
        </p:nvSpPr>
        <p:spPr>
          <a:xfrm>
            <a:off x="713160" y="306360"/>
            <a:ext cx="8136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VISTA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"/>
          <p:cNvSpPr/>
          <p:nvPr/>
        </p:nvSpPr>
        <p:spPr>
          <a:xfrm>
            <a:off x="62172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Diagrama de componentes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"/>
          <p:cNvSpPr/>
          <p:nvPr/>
        </p:nvSpPr>
        <p:spPr>
          <a:xfrm>
            <a:off x="640080" y="85968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  <a:ea typeface="Aptos"/>
              </a:rPr>
              <a:t>Los módulos colaboran de forma síncrona donde conviene y asíncrona donde la resiliencia lo exige.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4" name="Image 0" descr="/mnt/data/componentes.png"/>
          <p:cNvPicPr/>
          <p:nvPr/>
        </p:nvPicPr>
        <p:blipFill>
          <a:blip r:embed="rId1"/>
          <a:stretch/>
        </p:blipFill>
        <p:spPr>
          <a:xfrm>
            <a:off x="1222920" y="1298520"/>
            <a:ext cx="9715680" cy="516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PlaceHolder 1"/>
          <p:cNvSpPr>
            <a:spLocks noGrp="1"/>
          </p:cNvSpPr>
          <p:nvPr>
            <p:ph type="sldNum" idx="13"/>
          </p:nvPr>
        </p:nvSpPr>
        <p:spPr>
          <a:xfrm>
            <a:off x="11292840" y="6546960"/>
            <a:ext cx="36540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A32976-7CFB-4090-B11C-C3A654649DE7}" type="slidenum">
              <a: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0"/>
          <p:cNvSpPr/>
          <p:nvPr/>
        </p:nvSpPr>
        <p:spPr>
          <a:xfrm>
            <a:off x="640080" y="255960"/>
            <a:ext cx="959760" cy="237240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"/>
          <p:cNvSpPr/>
          <p:nvPr/>
        </p:nvSpPr>
        <p:spPr>
          <a:xfrm>
            <a:off x="713160" y="306360"/>
            <a:ext cx="8136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FLUJO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"/>
          <p:cNvSpPr/>
          <p:nvPr/>
        </p:nvSpPr>
        <p:spPr>
          <a:xfrm>
            <a:off x="62172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Flujo principal de una orden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3"/>
          <p:cNvSpPr/>
          <p:nvPr/>
        </p:nvSpPr>
        <p:spPr>
          <a:xfrm>
            <a:off x="640080" y="85968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  <a:ea typeface="Aptos"/>
              </a:rPr>
              <a:t>El proceso conserva estado y trazabilidad de extremo a extremo.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4"/>
          <p:cNvSpPr/>
          <p:nvPr/>
        </p:nvSpPr>
        <p:spPr>
          <a:xfrm>
            <a:off x="1124640" y="1481400"/>
            <a:ext cx="502560" cy="502560"/>
          </a:xfrm>
          <a:prstGeom prst="ellipse">
            <a:avLst/>
          </a:prstGeom>
          <a:solidFill>
            <a:srgbClr val="3c75c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5"/>
          <p:cNvSpPr/>
          <p:nvPr/>
        </p:nvSpPr>
        <p:spPr>
          <a:xfrm>
            <a:off x="1124640" y="1609200"/>
            <a:ext cx="502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6"/>
          <p:cNvSpPr/>
          <p:nvPr/>
        </p:nvSpPr>
        <p:spPr>
          <a:xfrm>
            <a:off x="530280" y="213984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Compra</a:t>
            </a:r>
            <a:endParaRPr b="0" lang="en-US" sz="12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7"/>
          <p:cNvSpPr/>
          <p:nvPr/>
        </p:nvSpPr>
        <p:spPr>
          <a:xfrm>
            <a:off x="530280" y="2487240"/>
            <a:ext cx="1691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Inicia en cualquier canal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8"/>
          <p:cNvSpPr/>
          <p:nvPr/>
        </p:nvSpPr>
        <p:spPr>
          <a:xfrm>
            <a:off x="1746360" y="1737360"/>
            <a:ext cx="658440" cy="360"/>
          </a:xfrm>
          <a:prstGeom prst="line">
            <a:avLst/>
          </a:prstGeom>
          <a:ln w="17780">
            <a:solidFill>
              <a:srgbClr val="a5afb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9"/>
          <p:cNvSpPr/>
          <p:nvPr/>
        </p:nvSpPr>
        <p:spPr>
          <a:xfrm>
            <a:off x="3026520" y="1481400"/>
            <a:ext cx="502560" cy="502560"/>
          </a:xfrm>
          <a:prstGeom prst="ellipse">
            <a:avLst/>
          </a:prstGeom>
          <a:solidFill>
            <a:srgbClr val="3c75c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0"/>
          <p:cNvSpPr/>
          <p:nvPr/>
        </p:nvSpPr>
        <p:spPr>
          <a:xfrm>
            <a:off x="3026520" y="1609200"/>
            <a:ext cx="502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1"/>
          <p:cNvSpPr/>
          <p:nvPr/>
        </p:nvSpPr>
        <p:spPr>
          <a:xfrm>
            <a:off x="2432160" y="213984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Reserva</a:t>
            </a:r>
            <a:endParaRPr b="0" lang="en-US" sz="12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2"/>
          <p:cNvSpPr/>
          <p:nvPr/>
        </p:nvSpPr>
        <p:spPr>
          <a:xfrm>
            <a:off x="2432160" y="2487240"/>
            <a:ext cx="1691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Inventario centralizado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3"/>
          <p:cNvSpPr/>
          <p:nvPr/>
        </p:nvSpPr>
        <p:spPr>
          <a:xfrm>
            <a:off x="3648240" y="1737360"/>
            <a:ext cx="658440" cy="360"/>
          </a:xfrm>
          <a:prstGeom prst="line">
            <a:avLst/>
          </a:prstGeom>
          <a:ln w="17780">
            <a:solidFill>
              <a:srgbClr val="a5afb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4"/>
          <p:cNvSpPr/>
          <p:nvPr/>
        </p:nvSpPr>
        <p:spPr>
          <a:xfrm>
            <a:off x="4928760" y="1481400"/>
            <a:ext cx="502560" cy="502560"/>
          </a:xfrm>
          <a:prstGeom prst="ellipse">
            <a:avLst/>
          </a:prstGeom>
          <a:solidFill>
            <a:srgbClr val="3c75c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5"/>
          <p:cNvSpPr/>
          <p:nvPr/>
        </p:nvSpPr>
        <p:spPr>
          <a:xfrm>
            <a:off x="4928760" y="1609200"/>
            <a:ext cx="502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6"/>
          <p:cNvSpPr/>
          <p:nvPr/>
        </p:nvSpPr>
        <p:spPr>
          <a:xfrm>
            <a:off x="4334400" y="213984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Pago</a:t>
            </a:r>
            <a:endParaRPr b="0" lang="en-US" sz="12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7"/>
          <p:cNvSpPr/>
          <p:nvPr/>
        </p:nvSpPr>
        <p:spPr>
          <a:xfrm>
            <a:off x="4334400" y="2487240"/>
            <a:ext cx="1691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Intento persistido y auditable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18"/>
          <p:cNvSpPr/>
          <p:nvPr/>
        </p:nvSpPr>
        <p:spPr>
          <a:xfrm>
            <a:off x="5550120" y="1737360"/>
            <a:ext cx="658440" cy="360"/>
          </a:xfrm>
          <a:prstGeom prst="line">
            <a:avLst/>
          </a:prstGeom>
          <a:ln w="17780">
            <a:solidFill>
              <a:srgbClr val="a5afb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9"/>
          <p:cNvSpPr/>
          <p:nvPr/>
        </p:nvSpPr>
        <p:spPr>
          <a:xfrm>
            <a:off x="6830640" y="1481400"/>
            <a:ext cx="502560" cy="502560"/>
          </a:xfrm>
          <a:prstGeom prst="ellipse">
            <a:avLst/>
          </a:prstGeom>
          <a:solidFill>
            <a:srgbClr val="6aae6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0"/>
          <p:cNvSpPr/>
          <p:nvPr/>
        </p:nvSpPr>
        <p:spPr>
          <a:xfrm>
            <a:off x="6830640" y="1609200"/>
            <a:ext cx="502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1"/>
          <p:cNvSpPr/>
          <p:nvPr/>
        </p:nvSpPr>
        <p:spPr>
          <a:xfrm>
            <a:off x="6236280" y="213984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Factura</a:t>
            </a:r>
            <a:endParaRPr b="0" lang="en-US" sz="12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2"/>
          <p:cNvSpPr/>
          <p:nvPr/>
        </p:nvSpPr>
        <p:spPr>
          <a:xfrm>
            <a:off x="6236280" y="2487240"/>
            <a:ext cx="1691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SAT antes del despacho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23"/>
          <p:cNvSpPr/>
          <p:nvPr/>
        </p:nvSpPr>
        <p:spPr>
          <a:xfrm>
            <a:off x="7452360" y="1737360"/>
            <a:ext cx="658080" cy="360"/>
          </a:xfrm>
          <a:prstGeom prst="line">
            <a:avLst/>
          </a:prstGeom>
          <a:ln w="17780">
            <a:solidFill>
              <a:srgbClr val="a5afb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24"/>
          <p:cNvSpPr/>
          <p:nvPr/>
        </p:nvSpPr>
        <p:spPr>
          <a:xfrm>
            <a:off x="8732520" y="1481400"/>
            <a:ext cx="502560" cy="502560"/>
          </a:xfrm>
          <a:prstGeom prst="ellipse">
            <a:avLst/>
          </a:prstGeom>
          <a:solidFill>
            <a:srgbClr val="6aae6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5"/>
          <p:cNvSpPr/>
          <p:nvPr/>
        </p:nvSpPr>
        <p:spPr>
          <a:xfrm>
            <a:off x="8732520" y="1609200"/>
            <a:ext cx="502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6"/>
          <p:cNvSpPr/>
          <p:nvPr/>
        </p:nvSpPr>
        <p:spPr>
          <a:xfrm>
            <a:off x="8138160" y="213984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Despacho</a:t>
            </a:r>
            <a:endParaRPr b="0" lang="en-US" sz="12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7"/>
          <p:cNvSpPr/>
          <p:nvPr/>
        </p:nvSpPr>
        <p:spPr>
          <a:xfrm>
            <a:off x="8138160" y="2487240"/>
            <a:ext cx="1691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Guía + estado de entrega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28"/>
          <p:cNvSpPr/>
          <p:nvPr/>
        </p:nvSpPr>
        <p:spPr>
          <a:xfrm>
            <a:off x="9354240" y="1737360"/>
            <a:ext cx="658440" cy="360"/>
          </a:xfrm>
          <a:prstGeom prst="line">
            <a:avLst/>
          </a:prstGeom>
          <a:ln w="17780">
            <a:solidFill>
              <a:srgbClr val="a5afb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29"/>
          <p:cNvSpPr/>
          <p:nvPr/>
        </p:nvSpPr>
        <p:spPr>
          <a:xfrm>
            <a:off x="10634400" y="1481400"/>
            <a:ext cx="502560" cy="50256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30"/>
          <p:cNvSpPr/>
          <p:nvPr/>
        </p:nvSpPr>
        <p:spPr>
          <a:xfrm>
            <a:off x="10634400" y="1609200"/>
            <a:ext cx="502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1"/>
          <p:cNvSpPr/>
          <p:nvPr/>
        </p:nvSpPr>
        <p:spPr>
          <a:xfrm>
            <a:off x="10040040" y="213984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ERP</a:t>
            </a:r>
            <a:endParaRPr b="0" lang="en-US" sz="12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32"/>
          <p:cNvSpPr/>
          <p:nvPr/>
        </p:nvSpPr>
        <p:spPr>
          <a:xfrm>
            <a:off x="10040040" y="2487240"/>
            <a:ext cx="1691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Batch cada 30 min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33"/>
          <p:cNvSpPr/>
          <p:nvPr/>
        </p:nvSpPr>
        <p:spPr>
          <a:xfrm>
            <a:off x="713160" y="3429000"/>
            <a:ext cx="10771200" cy="18741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34"/>
          <p:cNvSpPr/>
          <p:nvPr/>
        </p:nvSpPr>
        <p:spPr>
          <a:xfrm>
            <a:off x="987480" y="3675960"/>
            <a:ext cx="2971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Reglas que nunca se rompen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5"/>
          <p:cNvSpPr/>
          <p:nvPr/>
        </p:nvSpPr>
        <p:spPr>
          <a:xfrm>
            <a:off x="987480" y="4087440"/>
            <a:ext cx="996660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b="0" lang="en-US" sz="1040" strike="noStrike" u="none">
                <a:solidFill>
                  <a:srgbClr val="172033"/>
                </a:solidFill>
                <a:effectLst/>
                <a:uFillTx/>
                <a:latin typeface="Aptos"/>
                <a:ea typeface="Aptos"/>
              </a:rPr>
              <a:t>La orden se persiste antes de intentar el cobro.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b="0" lang="en-US" sz="1040" strike="noStrike" u="none">
                <a:solidFill>
                  <a:srgbClr val="172033"/>
                </a:solidFill>
                <a:effectLst/>
                <a:uFillTx/>
                <a:latin typeface="Aptos"/>
                <a:ea typeface="Aptos"/>
              </a:rPr>
              <a:t>Una unidad no puede comprometerse a más de un cliente; la reserva expira a los 20 minutos.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b="0" lang="en-US" sz="1040" strike="noStrike" u="none">
                <a:solidFill>
                  <a:srgbClr val="172033"/>
                </a:solidFill>
                <a:effectLst/>
                <a:uFillTx/>
                <a:latin typeface="Aptos"/>
                <a:ea typeface="Aptos"/>
              </a:rPr>
              <a:t>Ninguna orden se despacha sin factura electrónica válida.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b="0" lang="en-US" sz="1040" strike="noStrike" u="none">
                <a:solidFill>
                  <a:srgbClr val="172033"/>
                </a:solidFill>
                <a:effectLst/>
                <a:uFillTx/>
                <a:latin typeface="Aptos"/>
                <a:ea typeface="Aptos"/>
              </a:rPr>
              <a:t>Notificaciones y conciliación no bloquean el flujo principal.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1"/>
          <p:cNvSpPr>
            <a:spLocks noGrp="1"/>
          </p:cNvSpPr>
          <p:nvPr>
            <p:ph type="sldNum" idx="14"/>
          </p:nvPr>
        </p:nvSpPr>
        <p:spPr>
          <a:xfrm>
            <a:off x="11292840" y="6546960"/>
            <a:ext cx="36540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BC0F36-33E9-4966-BA9C-C0C1AF4DE097}" type="slidenum">
              <a: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0"/>
          <p:cNvSpPr/>
          <p:nvPr/>
        </p:nvSpPr>
        <p:spPr>
          <a:xfrm>
            <a:off x="640080" y="255960"/>
            <a:ext cx="1325520" cy="237240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"/>
          <p:cNvSpPr/>
          <p:nvPr/>
        </p:nvSpPr>
        <p:spPr>
          <a:xfrm>
            <a:off x="713160" y="306360"/>
            <a:ext cx="11793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ADR-0002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"/>
          <p:cNvSpPr/>
          <p:nvPr/>
        </p:nvSpPr>
        <p:spPr>
          <a:xfrm>
            <a:off x="62172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Driver crítico: pagos resilientes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3"/>
          <p:cNvSpPr/>
          <p:nvPr/>
        </p:nvSpPr>
        <p:spPr>
          <a:xfrm>
            <a:off x="640080" y="85968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  <a:ea typeface="Aptos"/>
              </a:rPr>
              <a:t>La caída de PayKlik no debe implicar pérdida de órdenes.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4"/>
          <p:cNvSpPr/>
          <p:nvPr/>
        </p:nvSpPr>
        <p:spPr>
          <a:xfrm>
            <a:off x="685800" y="1389960"/>
            <a:ext cx="3062880" cy="1416960"/>
          </a:xfrm>
          <a:prstGeom prst="roundRect">
            <a:avLst>
              <a:gd name="adj" fmla="val 3871"/>
            </a:avLst>
          </a:prstGeom>
          <a:solidFill>
            <a:srgbClr val="fceaea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5"/>
          <p:cNvSpPr/>
          <p:nvPr/>
        </p:nvSpPr>
        <p:spPr>
          <a:xfrm>
            <a:off x="887040" y="1554480"/>
            <a:ext cx="2660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c95b5b"/>
                </a:solidFill>
                <a:effectLst/>
                <a:uFillTx/>
                <a:latin typeface="Aptos"/>
              </a:rPr>
              <a:t>POR QUÉ IMPORTA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6"/>
          <p:cNvSpPr/>
          <p:nvPr/>
        </p:nvSpPr>
        <p:spPr>
          <a:xfrm>
            <a:off x="887040" y="1810440"/>
            <a:ext cx="2660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95b5b"/>
                </a:solidFill>
                <a:effectLst/>
                <a:uFillTx/>
                <a:latin typeface="Aptos"/>
              </a:rPr>
              <a:t>Incidente real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7"/>
          <p:cNvSpPr/>
          <p:nvPr/>
        </p:nvSpPr>
        <p:spPr>
          <a:xfrm>
            <a:off x="887040" y="2231280"/>
            <a:ext cx="26604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45 minutos de caída de PayKlik provocaron aproximadamente USD 150,000 en pérdidas.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8"/>
          <p:cNvSpPr/>
          <p:nvPr/>
        </p:nvSpPr>
        <p:spPr>
          <a:xfrm>
            <a:off x="685800" y="3063240"/>
            <a:ext cx="3062880" cy="1416960"/>
          </a:xfrm>
          <a:prstGeom prst="roundRect">
            <a:avLst>
              <a:gd name="adj" fmla="val 3871"/>
            </a:avLst>
          </a:prstGeom>
          <a:solidFill>
            <a:srgbClr val="eaf2fd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9"/>
          <p:cNvSpPr/>
          <p:nvPr/>
        </p:nvSpPr>
        <p:spPr>
          <a:xfrm>
            <a:off x="887040" y="3227760"/>
            <a:ext cx="2660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MEDIDA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0"/>
          <p:cNvSpPr/>
          <p:nvPr/>
        </p:nvSpPr>
        <p:spPr>
          <a:xfrm>
            <a:off x="887040" y="3483720"/>
            <a:ext cx="2660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Objetivo DC-01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1"/>
          <p:cNvSpPr/>
          <p:nvPr/>
        </p:nvSpPr>
        <p:spPr>
          <a:xfrm>
            <a:off x="887040" y="3904560"/>
            <a:ext cx="26604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0 órdenes perdidas ante una falla del proveedor de pagos.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2"/>
          <p:cNvSpPr/>
          <p:nvPr/>
        </p:nvSpPr>
        <p:spPr>
          <a:xfrm>
            <a:off x="4343400" y="1719000"/>
            <a:ext cx="1828440" cy="1096920"/>
          </a:xfrm>
          <a:prstGeom prst="roundRect">
            <a:avLst>
              <a:gd name="adj" fmla="val 4167"/>
            </a:avLst>
          </a:prstGeom>
          <a:solidFill>
            <a:srgbClr val="eaf5e9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3"/>
          <p:cNvSpPr/>
          <p:nvPr/>
        </p:nvSpPr>
        <p:spPr>
          <a:xfrm>
            <a:off x="4489560" y="1938600"/>
            <a:ext cx="153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Orden persistida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4"/>
          <p:cNvSpPr/>
          <p:nvPr/>
        </p:nvSpPr>
        <p:spPr>
          <a:xfrm>
            <a:off x="4489560" y="2313360"/>
            <a:ext cx="1535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Estado + intención de pago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5"/>
          <p:cNvSpPr/>
          <p:nvPr/>
        </p:nvSpPr>
        <p:spPr>
          <a:xfrm>
            <a:off x="6190200" y="2267640"/>
            <a:ext cx="182880" cy="360"/>
          </a:xfrm>
          <a:prstGeom prst="line">
            <a:avLst/>
          </a:prstGeom>
          <a:ln w="19050">
            <a:solidFill>
              <a:srgbClr val="5a66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6"/>
          <p:cNvSpPr/>
          <p:nvPr/>
        </p:nvSpPr>
        <p:spPr>
          <a:xfrm>
            <a:off x="6419160" y="1719000"/>
            <a:ext cx="1828440" cy="1096920"/>
          </a:xfrm>
          <a:prstGeom prst="roundRect">
            <a:avLst>
              <a:gd name="adj" fmla="val 4167"/>
            </a:avLst>
          </a:prstGeom>
          <a:solidFill>
            <a:srgbClr val="fff6d9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7"/>
          <p:cNvSpPr/>
          <p:nvPr/>
        </p:nvSpPr>
        <p:spPr>
          <a:xfrm>
            <a:off x="6565320" y="1938600"/>
            <a:ext cx="153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Transactional Outbox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8"/>
          <p:cNvSpPr/>
          <p:nvPr/>
        </p:nvSpPr>
        <p:spPr>
          <a:xfrm>
            <a:off x="6565320" y="2313360"/>
            <a:ext cx="1535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Evento durable antes de salir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9"/>
          <p:cNvSpPr/>
          <p:nvPr/>
        </p:nvSpPr>
        <p:spPr>
          <a:xfrm>
            <a:off x="8265960" y="2267640"/>
            <a:ext cx="182880" cy="360"/>
          </a:xfrm>
          <a:prstGeom prst="line">
            <a:avLst/>
          </a:prstGeom>
          <a:ln w="19050">
            <a:solidFill>
              <a:srgbClr val="5a66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20"/>
          <p:cNvSpPr/>
          <p:nvPr/>
        </p:nvSpPr>
        <p:spPr>
          <a:xfrm>
            <a:off x="8494920" y="1719000"/>
            <a:ext cx="1828440" cy="1096920"/>
          </a:xfrm>
          <a:prstGeom prst="roundRect">
            <a:avLst>
              <a:gd name="adj" fmla="val 4167"/>
            </a:avLst>
          </a:prstGeom>
          <a:solidFill>
            <a:srgbClr val="eaf2fd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1"/>
          <p:cNvSpPr/>
          <p:nvPr/>
        </p:nvSpPr>
        <p:spPr>
          <a:xfrm>
            <a:off x="8641080" y="1938600"/>
            <a:ext cx="153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Payment Service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2"/>
          <p:cNvSpPr/>
          <p:nvPr/>
        </p:nvSpPr>
        <p:spPr>
          <a:xfrm>
            <a:off x="8641080" y="2313360"/>
            <a:ext cx="1535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Circuit breaker + reintentos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3"/>
          <p:cNvSpPr/>
          <p:nvPr/>
        </p:nvSpPr>
        <p:spPr>
          <a:xfrm>
            <a:off x="8796600" y="3456360"/>
            <a:ext cx="2331360" cy="868320"/>
          </a:xfrm>
          <a:prstGeom prst="roundRect">
            <a:avLst>
              <a:gd name="adj" fmla="val 5263"/>
            </a:avLst>
          </a:prstGeom>
          <a:solidFill>
            <a:srgbClr val="fceaea"/>
          </a:solidFill>
          <a:ln w="12700">
            <a:solidFill>
              <a:srgbClr val="e9a8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4"/>
          <p:cNvSpPr/>
          <p:nvPr/>
        </p:nvSpPr>
        <p:spPr>
          <a:xfrm>
            <a:off x="9034200" y="369432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95b5b"/>
                </a:solidFill>
                <a:effectLst/>
                <a:uFillTx/>
                <a:latin typeface="Aptos"/>
              </a:rPr>
              <a:t>PayKlik caído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25"/>
          <p:cNvSpPr/>
          <p:nvPr/>
        </p:nvSpPr>
        <p:spPr>
          <a:xfrm>
            <a:off x="9399960" y="2852640"/>
            <a:ext cx="402120" cy="576360"/>
          </a:xfrm>
          <a:prstGeom prst="line">
            <a:avLst/>
          </a:prstGeom>
          <a:ln w="19050">
            <a:solidFill>
              <a:srgbClr val="c95b5b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26"/>
          <p:cNvSpPr/>
          <p:nvPr/>
        </p:nvSpPr>
        <p:spPr>
          <a:xfrm>
            <a:off x="4370760" y="4160520"/>
            <a:ext cx="3977280" cy="1051200"/>
          </a:xfrm>
          <a:prstGeom prst="roundRect">
            <a:avLst>
              <a:gd name="adj" fmla="val 4348"/>
            </a:avLst>
          </a:prstGeom>
          <a:solidFill>
            <a:srgbClr val="17324d"/>
          </a:solidFill>
          <a:ln w="12700">
            <a:solidFill>
              <a:srgbClr val="1732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7"/>
          <p:cNvSpPr/>
          <p:nvPr/>
        </p:nvSpPr>
        <p:spPr>
          <a:xfrm>
            <a:off x="4617720" y="440748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Resultado para el cliente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8"/>
          <p:cNvSpPr/>
          <p:nvPr/>
        </p:nvSpPr>
        <p:spPr>
          <a:xfrm>
            <a:off x="4617720" y="469080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dce8f2"/>
                </a:solidFill>
                <a:effectLst/>
                <a:uFillTx/>
                <a:latin typeface="Aptos"/>
              </a:rPr>
              <a:t>La orden permanece segura y el estado puede mostrarse como “pago en proceso” hasta completar el reintento.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29"/>
          <p:cNvSpPr/>
          <p:nvPr/>
        </p:nvSpPr>
        <p:spPr>
          <a:xfrm>
            <a:off x="4389120" y="5541120"/>
            <a:ext cx="1874160" cy="310680"/>
          </a:xfrm>
          <a:prstGeom prst="roundRect">
            <a:avLst>
              <a:gd name="adj" fmla="val 23529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30"/>
          <p:cNvSpPr/>
          <p:nvPr/>
        </p:nvSpPr>
        <p:spPr>
          <a:xfrm>
            <a:off x="4462200" y="5605200"/>
            <a:ext cx="17280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No guardar PAN/CVV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31"/>
          <p:cNvSpPr/>
          <p:nvPr/>
        </p:nvSpPr>
        <p:spPr>
          <a:xfrm>
            <a:off x="6492240" y="5541120"/>
            <a:ext cx="1874160" cy="310680"/>
          </a:xfrm>
          <a:prstGeom prst="roundRect">
            <a:avLst>
              <a:gd name="adj" fmla="val 23529"/>
            </a:avLst>
          </a:prstGeom>
          <a:solidFill>
            <a:srgbClr val="eaf5e9"/>
          </a:solidFill>
          <a:ln w="12700">
            <a:solidFill>
              <a:srgbClr val="eaf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32"/>
          <p:cNvSpPr/>
          <p:nvPr/>
        </p:nvSpPr>
        <p:spPr>
          <a:xfrm>
            <a:off x="6565320" y="5605200"/>
            <a:ext cx="17280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3f7d46"/>
                </a:solidFill>
                <a:effectLst/>
                <a:uFillTx/>
                <a:latin typeface="Aptos"/>
              </a:rPr>
              <a:t>Cada intento auditado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33"/>
          <p:cNvSpPr/>
          <p:nvPr/>
        </p:nvSpPr>
        <p:spPr>
          <a:xfrm>
            <a:off x="8595360" y="5541120"/>
            <a:ext cx="2331360" cy="310680"/>
          </a:xfrm>
          <a:prstGeom prst="roundRect">
            <a:avLst>
              <a:gd name="adj" fmla="val 23529"/>
            </a:avLst>
          </a:prstGeom>
          <a:solidFill>
            <a:srgbClr val="fff6d9"/>
          </a:solidFill>
          <a:ln w="12700">
            <a:solidFill>
              <a:srgbClr val="fff6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4"/>
          <p:cNvSpPr/>
          <p:nvPr/>
        </p:nvSpPr>
        <p:spPr>
          <a:xfrm>
            <a:off x="8668440" y="5605200"/>
            <a:ext cx="21852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7a5a0a"/>
                </a:solidFill>
                <a:effectLst/>
                <a:uFillTx/>
                <a:latin typeface="Aptos"/>
              </a:rPr>
              <a:t>Proveedor desacoplado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1"/>
          <p:cNvSpPr>
            <a:spLocks noGrp="1"/>
          </p:cNvSpPr>
          <p:nvPr>
            <p:ph type="sldNum" idx="15"/>
          </p:nvPr>
        </p:nvSpPr>
        <p:spPr>
          <a:xfrm>
            <a:off x="11292840" y="6546960"/>
            <a:ext cx="36540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1D46B1-4CFE-4584-BB21-0E5C53DE6030}" type="slidenum">
              <a: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0"/>
          <p:cNvSpPr/>
          <p:nvPr/>
        </p:nvSpPr>
        <p:spPr>
          <a:xfrm>
            <a:off x="640080" y="255960"/>
            <a:ext cx="1599840" cy="237240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"/>
          <p:cNvSpPr/>
          <p:nvPr/>
        </p:nvSpPr>
        <p:spPr>
          <a:xfrm>
            <a:off x="713160" y="306360"/>
            <a:ext cx="1453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ADR-0003/4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"/>
          <p:cNvSpPr/>
          <p:nvPr/>
        </p:nvSpPr>
        <p:spPr>
          <a:xfrm>
            <a:off x="62172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Integración con legacy y terceros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"/>
          <p:cNvSpPr/>
          <p:nvPr/>
        </p:nvSpPr>
        <p:spPr>
          <a:xfrm>
            <a:off x="640080" y="85968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  <a:ea typeface="Aptos"/>
              </a:rPr>
              <a:t>No todos los fallos tienen la misma criticidad; por eso la tolerancia es diferenciada.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4"/>
          <p:cNvSpPr/>
          <p:nvPr/>
        </p:nvSpPr>
        <p:spPr>
          <a:xfrm>
            <a:off x="676800" y="1398960"/>
            <a:ext cx="3456000" cy="3474360"/>
          </a:xfrm>
          <a:prstGeom prst="roundRect">
            <a:avLst>
              <a:gd name="adj" fmla="val 1587"/>
            </a:avLst>
          </a:prstGeom>
          <a:solidFill>
            <a:srgbClr val="fff6d9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5"/>
          <p:cNvSpPr/>
          <p:nvPr/>
        </p:nvSpPr>
        <p:spPr>
          <a:xfrm>
            <a:off x="877680" y="1563480"/>
            <a:ext cx="3053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8a6a0a"/>
                </a:solidFill>
                <a:effectLst/>
                <a:uFillTx/>
                <a:latin typeface="Aptos"/>
              </a:rPr>
              <a:t>ADR-0003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6"/>
          <p:cNvSpPr/>
          <p:nvPr/>
        </p:nvSpPr>
        <p:spPr>
          <a:xfrm>
            <a:off x="877680" y="1819800"/>
            <a:ext cx="305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ERP-Core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7"/>
          <p:cNvSpPr/>
          <p:nvPr/>
        </p:nvSpPr>
        <p:spPr>
          <a:xfrm>
            <a:off x="877680" y="2240280"/>
            <a:ext cx="3053880" cy="248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• No se modifica el AS/400.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• SGO-Logic agrupa ventas confirmadas.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• Genera CSV/XML cada 30 min.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• Proceso idempotente y auditable por lote.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8"/>
          <p:cNvSpPr/>
          <p:nvPr/>
        </p:nvSpPr>
        <p:spPr>
          <a:xfrm>
            <a:off x="4361760" y="1398960"/>
            <a:ext cx="3456000" cy="3474360"/>
          </a:xfrm>
          <a:prstGeom prst="roundRect">
            <a:avLst>
              <a:gd name="adj" fmla="val 1587"/>
            </a:avLst>
          </a:prstGeom>
          <a:solidFill>
            <a:srgbClr val="eaf2fd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9"/>
          <p:cNvSpPr/>
          <p:nvPr/>
        </p:nvSpPr>
        <p:spPr>
          <a:xfrm>
            <a:off x="4563000" y="1563480"/>
            <a:ext cx="3053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ADR-0004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0"/>
          <p:cNvSpPr/>
          <p:nvPr/>
        </p:nvSpPr>
        <p:spPr>
          <a:xfrm>
            <a:off x="4563000" y="1819800"/>
            <a:ext cx="305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LogiExpress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1"/>
          <p:cNvSpPr/>
          <p:nvPr/>
        </p:nvSpPr>
        <p:spPr>
          <a:xfrm>
            <a:off x="4563000" y="2240280"/>
            <a:ext cx="3053880" cy="248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• Aproximadamente 2% de solicitudes terminan en timeout.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• Circuit breaker + reintentos.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• Dead-letter queue para fallas persistentes.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• Escalamiento manual cuando corresponde.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2"/>
          <p:cNvSpPr/>
          <p:nvPr/>
        </p:nvSpPr>
        <p:spPr>
          <a:xfrm>
            <a:off x="8046720" y="1398960"/>
            <a:ext cx="3456000" cy="3474360"/>
          </a:xfrm>
          <a:prstGeom prst="roundRect">
            <a:avLst>
              <a:gd name="adj" fmla="val 1587"/>
            </a:avLst>
          </a:prstGeom>
          <a:solidFill>
            <a:srgbClr val="eaf5e9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3"/>
          <p:cNvSpPr/>
          <p:nvPr/>
        </p:nvSpPr>
        <p:spPr>
          <a:xfrm>
            <a:off x="8247960" y="1563480"/>
            <a:ext cx="3053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3f7d46"/>
                </a:solidFill>
                <a:effectLst/>
                <a:uFillTx/>
                <a:latin typeface="Aptos"/>
              </a:rPr>
              <a:t>ADR-0004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4"/>
          <p:cNvSpPr/>
          <p:nvPr/>
        </p:nvSpPr>
        <p:spPr>
          <a:xfrm>
            <a:off x="8247960" y="1819800"/>
            <a:ext cx="305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Notificaciones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5"/>
          <p:cNvSpPr/>
          <p:nvPr/>
        </p:nvSpPr>
        <p:spPr>
          <a:xfrm>
            <a:off x="8247960" y="2240280"/>
            <a:ext cx="3053880" cy="248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• SMS / correo / push.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• Best-effort.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• Una falla no bloquea pago, factura ni despacho.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• Se reintenta sin comprometer el flujo principal.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6"/>
          <p:cNvSpPr/>
          <p:nvPr/>
        </p:nvSpPr>
        <p:spPr>
          <a:xfrm>
            <a:off x="1920240" y="5257800"/>
            <a:ext cx="832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Principio de diseño: proteger lo crítico y desacoplar lo no crítico.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1"/>
          <p:cNvSpPr>
            <a:spLocks noGrp="1"/>
          </p:cNvSpPr>
          <p:nvPr>
            <p:ph type="sldNum" idx="16"/>
          </p:nvPr>
        </p:nvSpPr>
        <p:spPr>
          <a:xfrm>
            <a:off x="11292840" y="6546960"/>
            <a:ext cx="36540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0EEA62-D8BF-431C-96AB-FC86E974BE61}" type="slidenum">
              <a: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0"/>
          <p:cNvSpPr/>
          <p:nvPr/>
        </p:nvSpPr>
        <p:spPr>
          <a:xfrm>
            <a:off x="640080" y="255960"/>
            <a:ext cx="1325520" cy="237240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"/>
          <p:cNvSpPr/>
          <p:nvPr/>
        </p:nvSpPr>
        <p:spPr>
          <a:xfrm>
            <a:off x="713160" y="306360"/>
            <a:ext cx="11793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ADR-0005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"/>
          <p:cNvSpPr/>
          <p:nvPr/>
        </p:nvSpPr>
        <p:spPr>
          <a:xfrm>
            <a:off x="62172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Diagrama de despliegue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3"/>
          <p:cNvSpPr/>
          <p:nvPr/>
        </p:nvSpPr>
        <p:spPr>
          <a:xfrm>
            <a:off x="640080" y="85968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  <a:ea typeface="Aptos"/>
              </a:rPr>
              <a:t>Docker on-premises en Fase 1, con separación clara y ruta de evolución a nube.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1" name="Image 0" descr="/mnt/data/despliegue.png"/>
          <p:cNvPicPr/>
          <p:nvPr/>
        </p:nvPicPr>
        <p:blipFill>
          <a:blip r:embed="rId1"/>
          <a:stretch/>
        </p:blipFill>
        <p:spPr>
          <a:xfrm>
            <a:off x="483120" y="1261800"/>
            <a:ext cx="11232000" cy="519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PlaceHolder 1"/>
          <p:cNvSpPr>
            <a:spLocks noGrp="1"/>
          </p:cNvSpPr>
          <p:nvPr>
            <p:ph type="sldNum" idx="17"/>
          </p:nvPr>
        </p:nvSpPr>
        <p:spPr>
          <a:xfrm>
            <a:off x="11292840" y="6546960"/>
            <a:ext cx="36540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E3F7C3-1A2C-48B2-AA80-DDFE00FDEE8B}" type="slidenum">
              <a: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0"/>
          <p:cNvSpPr/>
          <p:nvPr/>
        </p:nvSpPr>
        <p:spPr>
          <a:xfrm>
            <a:off x="640080" y="255960"/>
            <a:ext cx="1462680" cy="237240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"/>
          <p:cNvSpPr/>
          <p:nvPr/>
        </p:nvSpPr>
        <p:spPr>
          <a:xfrm>
            <a:off x="713160" y="306360"/>
            <a:ext cx="131652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CUMPLIMIENTO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"/>
          <p:cNvSpPr/>
          <p:nvPr/>
        </p:nvSpPr>
        <p:spPr>
          <a:xfrm>
            <a:off x="62172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Auditabilidad, SAT y seguridad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3"/>
          <p:cNvSpPr/>
          <p:nvPr/>
        </p:nvSpPr>
        <p:spPr>
          <a:xfrm>
            <a:off x="640080" y="85968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  <a:ea typeface="Aptos"/>
              </a:rPr>
              <a:t>La trazabilidad es un driver de negocio y un requisito de cumplimiento, no un detalle técnico.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4"/>
          <p:cNvSpPr/>
          <p:nvPr/>
        </p:nvSpPr>
        <p:spPr>
          <a:xfrm>
            <a:off x="713160" y="1417320"/>
            <a:ext cx="3401280" cy="3611520"/>
          </a:xfrm>
          <a:prstGeom prst="roundRect">
            <a:avLst>
              <a:gd name="adj" fmla="val 1613"/>
            </a:avLst>
          </a:prstGeom>
          <a:solidFill>
            <a:srgbClr val="eaf2fd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5"/>
          <p:cNvSpPr/>
          <p:nvPr/>
        </p:nvSpPr>
        <p:spPr>
          <a:xfrm>
            <a:off x="914400" y="1581840"/>
            <a:ext cx="2998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DC-07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6"/>
          <p:cNvSpPr/>
          <p:nvPr/>
        </p:nvSpPr>
        <p:spPr>
          <a:xfrm>
            <a:off x="914400" y="1837800"/>
            <a:ext cx="2998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100% auditable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7"/>
          <p:cNvSpPr/>
          <p:nvPr/>
        </p:nvSpPr>
        <p:spPr>
          <a:xfrm>
            <a:off x="914400" y="2258640"/>
            <a:ext cx="2998800" cy="26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Pagos, facturas, devoluciones, conciliaciones y lotes ERP deben conservar evidencia recuperable.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8"/>
          <p:cNvSpPr/>
          <p:nvPr/>
        </p:nvSpPr>
        <p:spPr>
          <a:xfrm>
            <a:off x="4407480" y="1417320"/>
            <a:ext cx="3401280" cy="3611520"/>
          </a:xfrm>
          <a:prstGeom prst="roundRect">
            <a:avLst>
              <a:gd name="adj" fmla="val 1613"/>
            </a:avLst>
          </a:prstGeom>
          <a:solidFill>
            <a:srgbClr val="fff6d9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9"/>
          <p:cNvSpPr/>
          <p:nvPr/>
        </p:nvSpPr>
        <p:spPr>
          <a:xfrm>
            <a:off x="4608720" y="1581840"/>
            <a:ext cx="2998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8a6a0a"/>
                </a:solidFill>
                <a:effectLst/>
                <a:uFillTx/>
                <a:latin typeface="Aptos"/>
              </a:rPr>
              <a:t>CDU-03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0"/>
          <p:cNvSpPr/>
          <p:nvPr/>
        </p:nvSpPr>
        <p:spPr>
          <a:xfrm>
            <a:off x="4608720" y="1837800"/>
            <a:ext cx="2998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Factura antes del despacho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1"/>
          <p:cNvSpPr/>
          <p:nvPr/>
        </p:nvSpPr>
        <p:spPr>
          <a:xfrm>
            <a:off x="4608720" y="2258640"/>
            <a:ext cx="2998800" cy="26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La orden no avanza a logística sin una factura electrónica SAT válida.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2"/>
          <p:cNvSpPr/>
          <p:nvPr/>
        </p:nvSpPr>
        <p:spPr>
          <a:xfrm>
            <a:off x="8101440" y="1417320"/>
            <a:ext cx="3401280" cy="3611520"/>
          </a:xfrm>
          <a:prstGeom prst="roundRect">
            <a:avLst>
              <a:gd name="adj" fmla="val 1613"/>
            </a:avLst>
          </a:prstGeom>
          <a:solidFill>
            <a:srgbClr val="eaf5e9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3"/>
          <p:cNvSpPr/>
          <p:nvPr/>
        </p:nvSpPr>
        <p:spPr>
          <a:xfrm>
            <a:off x="8302680" y="1581840"/>
            <a:ext cx="2998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3f7d46"/>
                </a:solidFill>
                <a:effectLst/>
                <a:uFillTx/>
                <a:latin typeface="Aptos"/>
              </a:rPr>
              <a:t>DC-08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4"/>
          <p:cNvSpPr/>
          <p:nvPr/>
        </p:nvSpPr>
        <p:spPr>
          <a:xfrm>
            <a:off x="8302680" y="1837800"/>
            <a:ext cx="2998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Datos de pago protegidos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5"/>
          <p:cNvSpPr/>
          <p:nvPr/>
        </p:nvSpPr>
        <p:spPr>
          <a:xfrm>
            <a:off x="8302680" y="2258640"/>
            <a:ext cx="2998800" cy="26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El sistema registra intentos y resultados sin almacenar PAN completo ni CVV.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6"/>
          <p:cNvSpPr/>
          <p:nvPr/>
        </p:nvSpPr>
        <p:spPr>
          <a:xfrm>
            <a:off x="1737360" y="5394960"/>
            <a:ext cx="8686440" cy="566640"/>
          </a:xfrm>
          <a:prstGeom prst="roundRect">
            <a:avLst>
              <a:gd name="adj" fmla="val 8065"/>
            </a:avLst>
          </a:prstGeom>
          <a:solidFill>
            <a:srgbClr val="17324d"/>
          </a:solidFill>
          <a:ln w="12700">
            <a:solidFill>
              <a:srgbClr val="1732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7"/>
          <p:cNvSpPr/>
          <p:nvPr/>
        </p:nvSpPr>
        <p:spPr>
          <a:xfrm>
            <a:off x="2011680" y="5577840"/>
            <a:ext cx="8137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6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Finanzas tiene poder de veto: sin trazabilidad completa, la arquitectura no es aceptable.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1"/>
          <p:cNvSpPr>
            <a:spLocks noGrp="1"/>
          </p:cNvSpPr>
          <p:nvPr>
            <p:ph type="sldNum" idx="18"/>
          </p:nvPr>
        </p:nvSpPr>
        <p:spPr>
          <a:xfrm>
            <a:off x="11292840" y="6546960"/>
            <a:ext cx="36540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610846-FF66-49CF-9F0C-D55E6EA9839B}" type="slidenum">
              <a: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0"/>
          <p:cNvSpPr/>
          <p:nvPr/>
        </p:nvSpPr>
        <p:spPr>
          <a:xfrm>
            <a:off x="640080" y="255960"/>
            <a:ext cx="1371240" cy="237240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"/>
          <p:cNvSpPr/>
          <p:nvPr/>
        </p:nvSpPr>
        <p:spPr>
          <a:xfrm>
            <a:off x="713160" y="306360"/>
            <a:ext cx="12250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TRADE-OFFS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"/>
          <p:cNvSpPr/>
          <p:nvPr/>
        </p:nvSpPr>
        <p:spPr>
          <a:xfrm>
            <a:off x="62172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Riesgos aceptados y evolución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3"/>
          <p:cNvSpPr/>
          <p:nvPr/>
        </p:nvSpPr>
        <p:spPr>
          <a:xfrm>
            <a:off x="640080" y="85968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  <a:ea typeface="Aptos"/>
              </a:rPr>
              <a:t>Toda arquitectura implica consecuencias; aquí están documentadas y son conscientes.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4"/>
          <p:cNvSpPr/>
          <p:nvPr/>
        </p:nvSpPr>
        <p:spPr>
          <a:xfrm>
            <a:off x="786240" y="1334880"/>
            <a:ext cx="10588320" cy="91404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5"/>
          <p:cNvSpPr/>
          <p:nvPr/>
        </p:nvSpPr>
        <p:spPr>
          <a:xfrm>
            <a:off x="987480" y="148140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Consistencia eventual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6"/>
          <p:cNvSpPr/>
          <p:nvPr/>
        </p:nvSpPr>
        <p:spPr>
          <a:xfrm>
            <a:off x="3703320" y="1454040"/>
            <a:ext cx="4525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Algunos flujos asíncronos no se confirman inmediatamente.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7"/>
          <p:cNvSpPr/>
          <p:nvPr/>
        </p:nvSpPr>
        <p:spPr>
          <a:xfrm>
            <a:off x="8458200" y="145404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70" strike="noStrike" u="none">
                <a:solidFill>
                  <a:srgbClr val="3f7d46"/>
                </a:solidFill>
                <a:effectLst/>
                <a:uFillTx/>
                <a:latin typeface="Aptos"/>
              </a:rPr>
              <a:t>Aceptado para ganar resiliencia.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8"/>
          <p:cNvSpPr/>
          <p:nvPr/>
        </p:nvSpPr>
        <p:spPr>
          <a:xfrm>
            <a:off x="786240" y="2505600"/>
            <a:ext cx="10588320" cy="914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9"/>
          <p:cNvSpPr/>
          <p:nvPr/>
        </p:nvSpPr>
        <p:spPr>
          <a:xfrm>
            <a:off x="987480" y="265176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ERP con ventana de 30 min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0"/>
          <p:cNvSpPr/>
          <p:nvPr/>
        </p:nvSpPr>
        <p:spPr>
          <a:xfrm>
            <a:off x="3703320" y="2624400"/>
            <a:ext cx="4525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Los reportes contables no son tiempo real.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1"/>
          <p:cNvSpPr/>
          <p:nvPr/>
        </p:nvSpPr>
        <p:spPr>
          <a:xfrm>
            <a:off x="8458200" y="262440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70" strike="noStrike" u="none">
                <a:solidFill>
                  <a:srgbClr val="3f7d46"/>
                </a:solidFill>
                <a:effectLst/>
                <a:uFillTx/>
                <a:latin typeface="Aptos"/>
              </a:rPr>
              <a:t>Restricción del AS/400.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12"/>
          <p:cNvSpPr/>
          <p:nvPr/>
        </p:nvSpPr>
        <p:spPr>
          <a:xfrm>
            <a:off x="786240" y="3675960"/>
            <a:ext cx="10588320" cy="91404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3"/>
          <p:cNvSpPr/>
          <p:nvPr/>
        </p:nvSpPr>
        <p:spPr>
          <a:xfrm>
            <a:off x="987480" y="382212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Sin autoescalado real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4"/>
          <p:cNvSpPr/>
          <p:nvPr/>
        </p:nvSpPr>
        <p:spPr>
          <a:xfrm>
            <a:off x="3703320" y="3794760"/>
            <a:ext cx="4525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Fase 1 cubre Black Friday con capacidad reservada.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5"/>
          <p:cNvSpPr/>
          <p:nvPr/>
        </p:nvSpPr>
        <p:spPr>
          <a:xfrm>
            <a:off x="8458200" y="379476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7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Evolución futura a nube.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16"/>
          <p:cNvSpPr/>
          <p:nvPr/>
        </p:nvSpPr>
        <p:spPr>
          <a:xfrm>
            <a:off x="786240" y="4846320"/>
            <a:ext cx="10588320" cy="914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7"/>
          <p:cNvSpPr/>
          <p:nvPr/>
        </p:nvSpPr>
        <p:spPr>
          <a:xfrm>
            <a:off x="987480" y="499248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Intervención logística puntual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8"/>
          <p:cNvSpPr/>
          <p:nvPr/>
        </p:nvSpPr>
        <p:spPr>
          <a:xfrm>
            <a:off x="3703320" y="4965120"/>
            <a:ext cx="4525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Una guía que agota reintentos puede requerir acción humana.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9"/>
          <p:cNvSpPr/>
          <p:nvPr/>
        </p:nvSpPr>
        <p:spPr>
          <a:xfrm>
            <a:off x="8458200" y="496512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70" strike="noStrike" u="none">
                <a:solidFill>
                  <a:srgbClr val="3f7d46"/>
                </a:solidFill>
                <a:effectLst/>
                <a:uFillTx/>
                <a:latin typeface="Aptos"/>
              </a:rPr>
              <a:t>Preferible a perder eventos silenciosamente.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0"/>
          <p:cNvSpPr/>
          <p:nvPr/>
        </p:nvSpPr>
        <p:spPr>
          <a:xfrm>
            <a:off x="1097280" y="6108120"/>
            <a:ext cx="9966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8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Evolución prevista: mantener contratos actuales, validar Fase 1 y migrar contenedores a nube sin rediseñar la lógica de negocio.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1"/>
          <p:cNvSpPr>
            <a:spLocks noGrp="1"/>
          </p:cNvSpPr>
          <p:nvPr>
            <p:ph type="sldNum" idx="19"/>
          </p:nvPr>
        </p:nvSpPr>
        <p:spPr>
          <a:xfrm>
            <a:off x="11292840" y="6546960"/>
            <a:ext cx="36540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7717B4-7B14-46E9-A857-9785FEAE25B9}" type="slidenum">
              <a: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0"/>
          <p:cNvSpPr/>
          <p:nvPr/>
        </p:nvSpPr>
        <p:spPr>
          <a:xfrm>
            <a:off x="640080" y="255960"/>
            <a:ext cx="1416960" cy="237240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"/>
          <p:cNvSpPr/>
          <p:nvPr/>
        </p:nvSpPr>
        <p:spPr>
          <a:xfrm>
            <a:off x="713160" y="306360"/>
            <a:ext cx="12708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TRAZABILIDAD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2"/>
          <p:cNvSpPr/>
          <p:nvPr/>
        </p:nvSpPr>
        <p:spPr>
          <a:xfrm>
            <a:off x="62172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Driver → decisión → vista → validación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3"/>
          <p:cNvSpPr/>
          <p:nvPr/>
        </p:nvSpPr>
        <p:spPr>
          <a:xfrm>
            <a:off x="640080" y="85968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  <a:ea typeface="Aptos"/>
              </a:rPr>
              <a:t>La arquitectura se puede defender con una cadena de evidencia sin huecos.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4"/>
          <p:cNvSpPr/>
          <p:nvPr/>
        </p:nvSpPr>
        <p:spPr>
          <a:xfrm>
            <a:off x="594360" y="1600200"/>
            <a:ext cx="2331360" cy="959760"/>
          </a:xfrm>
          <a:prstGeom prst="roundRect">
            <a:avLst>
              <a:gd name="adj" fmla="val 5714"/>
            </a:avLst>
          </a:prstGeom>
          <a:solidFill>
            <a:srgbClr val="fceaea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5"/>
          <p:cNvSpPr/>
          <p:nvPr/>
        </p:nvSpPr>
        <p:spPr>
          <a:xfrm>
            <a:off x="731520" y="1819800"/>
            <a:ext cx="2057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Driver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6"/>
          <p:cNvSpPr/>
          <p:nvPr/>
        </p:nvSpPr>
        <p:spPr>
          <a:xfrm>
            <a:off x="2944080" y="2084760"/>
            <a:ext cx="228600" cy="360"/>
          </a:xfrm>
          <a:prstGeom prst="line">
            <a:avLst/>
          </a:prstGeom>
          <a:ln w="25400">
            <a:solidFill>
              <a:srgbClr val="5a66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7"/>
          <p:cNvSpPr/>
          <p:nvPr/>
        </p:nvSpPr>
        <p:spPr>
          <a:xfrm>
            <a:off x="3246120" y="1600200"/>
            <a:ext cx="2331360" cy="95976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8"/>
          <p:cNvSpPr/>
          <p:nvPr/>
        </p:nvSpPr>
        <p:spPr>
          <a:xfrm>
            <a:off x="3383280" y="1819800"/>
            <a:ext cx="2057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Decisión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9"/>
          <p:cNvSpPr/>
          <p:nvPr/>
        </p:nvSpPr>
        <p:spPr>
          <a:xfrm>
            <a:off x="5595840" y="2084760"/>
            <a:ext cx="228600" cy="360"/>
          </a:xfrm>
          <a:prstGeom prst="line">
            <a:avLst/>
          </a:prstGeom>
          <a:ln w="25400">
            <a:solidFill>
              <a:srgbClr val="5a66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10"/>
          <p:cNvSpPr/>
          <p:nvPr/>
        </p:nvSpPr>
        <p:spPr>
          <a:xfrm>
            <a:off x="5897880" y="1600200"/>
            <a:ext cx="2331360" cy="959760"/>
          </a:xfrm>
          <a:prstGeom prst="roundRect">
            <a:avLst>
              <a:gd name="adj" fmla="val 5714"/>
            </a:avLst>
          </a:prstGeom>
          <a:solidFill>
            <a:srgbClr val="eaf5e9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1"/>
          <p:cNvSpPr/>
          <p:nvPr/>
        </p:nvSpPr>
        <p:spPr>
          <a:xfrm>
            <a:off x="6035040" y="1819800"/>
            <a:ext cx="2057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Vista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2"/>
          <p:cNvSpPr/>
          <p:nvPr/>
        </p:nvSpPr>
        <p:spPr>
          <a:xfrm>
            <a:off x="8247600" y="2084760"/>
            <a:ext cx="228600" cy="360"/>
          </a:xfrm>
          <a:prstGeom prst="line">
            <a:avLst/>
          </a:prstGeom>
          <a:ln w="25400">
            <a:solidFill>
              <a:srgbClr val="5a66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13"/>
          <p:cNvSpPr/>
          <p:nvPr/>
        </p:nvSpPr>
        <p:spPr>
          <a:xfrm>
            <a:off x="8549640" y="1600200"/>
            <a:ext cx="2331360" cy="959760"/>
          </a:xfrm>
          <a:prstGeom prst="roundRect">
            <a:avLst>
              <a:gd name="adj" fmla="val 5714"/>
            </a:avLst>
          </a:prstGeom>
          <a:solidFill>
            <a:srgbClr val="fff6d9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4"/>
          <p:cNvSpPr/>
          <p:nvPr/>
        </p:nvSpPr>
        <p:spPr>
          <a:xfrm>
            <a:off x="8686800" y="1819800"/>
            <a:ext cx="2057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Validación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5"/>
          <p:cNvSpPr/>
          <p:nvPr/>
        </p:nvSpPr>
        <p:spPr>
          <a:xfrm>
            <a:off x="804600" y="2944440"/>
            <a:ext cx="1919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95b5b"/>
                </a:solidFill>
                <a:effectLst/>
                <a:uFillTx/>
                <a:latin typeface="Aptos"/>
              </a:rPr>
              <a:t>DC-01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95b5b"/>
                </a:solidFill>
                <a:effectLst/>
                <a:uFillTx/>
                <a:latin typeface="Aptos"/>
              </a:rPr>
              <a:t>0 órdenes perdidas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6"/>
          <p:cNvSpPr/>
          <p:nvPr/>
        </p:nvSpPr>
        <p:spPr>
          <a:xfrm>
            <a:off x="3420000" y="2944440"/>
            <a:ext cx="1992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6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ADR-0002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6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Outbox + CB + reintentos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7"/>
          <p:cNvSpPr/>
          <p:nvPr/>
        </p:nvSpPr>
        <p:spPr>
          <a:xfrm>
            <a:off x="6163200" y="2944440"/>
            <a:ext cx="1828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f7d46"/>
                </a:solidFill>
                <a:effectLst/>
                <a:uFillTx/>
                <a:latin typeface="Aptos"/>
              </a:rPr>
              <a:t>Componentes +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f7d46"/>
                </a:solidFill>
                <a:effectLst/>
                <a:uFillTx/>
                <a:latin typeface="Aptos"/>
              </a:rPr>
              <a:t>Despliegue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8"/>
          <p:cNvSpPr/>
          <p:nvPr/>
        </p:nvSpPr>
        <p:spPr>
          <a:xfrm>
            <a:off x="8668440" y="2944440"/>
            <a:ext cx="21027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40" strike="noStrike" u="none">
                <a:solidFill>
                  <a:srgbClr val="8a6a0a"/>
                </a:solidFill>
                <a:effectLst/>
                <a:uFillTx/>
                <a:latin typeface="Aptos"/>
              </a:rPr>
              <a:t>Prueba de caos:</a:t>
            </a:r>
            <a:endParaRPr b="0" lang="en-US" sz="11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40" strike="noStrike" u="none">
                <a:solidFill>
                  <a:srgbClr val="8a6a0a"/>
                </a:solidFill>
                <a:effectLst/>
                <a:uFillTx/>
                <a:latin typeface="Aptos"/>
              </a:rPr>
              <a:t>PayKlik caído, 0 pérdidas</a:t>
            </a:r>
            <a:endParaRPr b="0" lang="en-US" sz="11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19"/>
          <p:cNvSpPr/>
          <p:nvPr/>
        </p:nvSpPr>
        <p:spPr>
          <a:xfrm>
            <a:off x="1773720" y="3611880"/>
            <a:ext cx="7845480" cy="360"/>
          </a:xfrm>
          <a:prstGeom prst="line">
            <a:avLst/>
          </a:prstGeom>
          <a:ln w="15240">
            <a:solidFill>
              <a:srgbClr val="b7be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20"/>
          <p:cNvSpPr/>
          <p:nvPr/>
        </p:nvSpPr>
        <p:spPr>
          <a:xfrm>
            <a:off x="1261800" y="4133160"/>
            <a:ext cx="9673920" cy="1234080"/>
          </a:xfrm>
          <a:prstGeom prst="roundRect">
            <a:avLst>
              <a:gd name="adj" fmla="val 4444"/>
            </a:avLst>
          </a:prstGeom>
          <a:solidFill>
            <a:srgbClr val="17324d"/>
          </a:solidFill>
          <a:ln w="12700">
            <a:solidFill>
              <a:srgbClr val="1732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21"/>
          <p:cNvSpPr/>
          <p:nvPr/>
        </p:nvSpPr>
        <p:spPr>
          <a:xfrm>
            <a:off x="1691640" y="4462200"/>
            <a:ext cx="88236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La pregunta de defensa no es “¿qué tecnología usaron?”, sino “¿qué driver resuelve esta decisión y cómo lo validan?”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1"/>
          <p:cNvSpPr>
            <a:spLocks noGrp="1"/>
          </p:cNvSpPr>
          <p:nvPr>
            <p:ph type="sldNum" idx="20"/>
          </p:nvPr>
        </p:nvSpPr>
        <p:spPr>
          <a:xfrm>
            <a:off x="11292840" y="6546960"/>
            <a:ext cx="36540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BB48CA-0C69-48F9-A803-C4222D9DCAF5}" type="slidenum">
              <a: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Shape 0"/>
          <p:cNvSpPr/>
          <p:nvPr/>
        </p:nvSpPr>
        <p:spPr>
          <a:xfrm>
            <a:off x="640080" y="255960"/>
            <a:ext cx="1005480" cy="237240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"/>
          <p:cNvSpPr/>
          <p:nvPr/>
        </p:nvSpPr>
        <p:spPr>
          <a:xfrm>
            <a:off x="713160" y="306360"/>
            <a:ext cx="85932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CIERRE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2"/>
          <p:cNvSpPr/>
          <p:nvPr/>
        </p:nvSpPr>
        <p:spPr>
          <a:xfrm>
            <a:off x="62172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Qué logra SGO-Logic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3"/>
          <p:cNvSpPr/>
          <p:nvPr/>
        </p:nvSpPr>
        <p:spPr>
          <a:xfrm>
            <a:off x="640080" y="85968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  <a:ea typeface="Aptos"/>
              </a:rPr>
              <a:t>Una arquitectura defendible, trazable y evolucionable dentro de las restricciones reales de MegaStore.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4"/>
          <p:cNvSpPr/>
          <p:nvPr/>
        </p:nvSpPr>
        <p:spPr>
          <a:xfrm>
            <a:off x="713160" y="1444680"/>
            <a:ext cx="3309840" cy="2148480"/>
          </a:xfrm>
          <a:prstGeom prst="roundRect">
            <a:avLst>
              <a:gd name="adj" fmla="val 2553"/>
            </a:avLst>
          </a:prstGeom>
          <a:solidFill>
            <a:srgbClr val="eaf2fd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5"/>
          <p:cNvSpPr/>
          <p:nvPr/>
        </p:nvSpPr>
        <p:spPr>
          <a:xfrm>
            <a:off x="914400" y="1609200"/>
            <a:ext cx="2907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VALOR 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6"/>
          <p:cNvSpPr/>
          <p:nvPr/>
        </p:nvSpPr>
        <p:spPr>
          <a:xfrm>
            <a:off x="914400" y="1865520"/>
            <a:ext cx="2907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Continuidad de negocio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7"/>
          <p:cNvSpPr/>
          <p:nvPr/>
        </p:nvSpPr>
        <p:spPr>
          <a:xfrm>
            <a:off x="914400" y="2286000"/>
            <a:ext cx="290736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La orden no se pierde por fallas de PayKlik o de otros terceros.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8"/>
          <p:cNvSpPr/>
          <p:nvPr/>
        </p:nvSpPr>
        <p:spPr>
          <a:xfrm>
            <a:off x="4425840" y="1444680"/>
            <a:ext cx="3309840" cy="2148480"/>
          </a:xfrm>
          <a:prstGeom prst="roundRect">
            <a:avLst>
              <a:gd name="adj" fmla="val 2553"/>
            </a:avLst>
          </a:prstGeom>
          <a:solidFill>
            <a:srgbClr val="eaf5e9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9"/>
          <p:cNvSpPr/>
          <p:nvPr/>
        </p:nvSpPr>
        <p:spPr>
          <a:xfrm>
            <a:off x="4626720" y="1609200"/>
            <a:ext cx="2907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3f7d46"/>
                </a:solidFill>
                <a:effectLst/>
                <a:uFillTx/>
                <a:latin typeface="Aptos"/>
              </a:rPr>
              <a:t>VALOR 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0"/>
          <p:cNvSpPr/>
          <p:nvPr/>
        </p:nvSpPr>
        <p:spPr>
          <a:xfrm>
            <a:off x="4626720" y="1865520"/>
            <a:ext cx="2907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Operación omnicanal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1"/>
          <p:cNvSpPr/>
          <p:nvPr/>
        </p:nvSpPr>
        <p:spPr>
          <a:xfrm>
            <a:off x="4626720" y="2286000"/>
            <a:ext cx="290736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Inventario, pago, factura y logística quedan coordinados entre canales.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2"/>
          <p:cNvSpPr/>
          <p:nvPr/>
        </p:nvSpPr>
        <p:spPr>
          <a:xfrm>
            <a:off x="8138160" y="1444680"/>
            <a:ext cx="3309840" cy="2148480"/>
          </a:xfrm>
          <a:prstGeom prst="roundRect">
            <a:avLst>
              <a:gd name="adj" fmla="val 2553"/>
            </a:avLst>
          </a:prstGeom>
          <a:solidFill>
            <a:srgbClr val="fff6d9"/>
          </a:solidFill>
          <a:ln w="12700">
            <a:solidFill>
              <a:srgbClr val="d9dee7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3"/>
          <p:cNvSpPr/>
          <p:nvPr/>
        </p:nvSpPr>
        <p:spPr>
          <a:xfrm>
            <a:off x="8339400" y="1609200"/>
            <a:ext cx="2907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1" strike="noStrike" u="none">
                <a:solidFill>
                  <a:srgbClr val="8a6a0a"/>
                </a:solidFill>
                <a:effectLst/>
                <a:uFillTx/>
                <a:latin typeface="Aptos"/>
              </a:rPr>
              <a:t>VALOR 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4"/>
          <p:cNvSpPr/>
          <p:nvPr/>
        </p:nvSpPr>
        <p:spPr>
          <a:xfrm>
            <a:off x="8339400" y="1865520"/>
            <a:ext cx="2907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Cumplimiento y control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5"/>
          <p:cNvSpPr/>
          <p:nvPr/>
        </p:nvSpPr>
        <p:spPr>
          <a:xfrm>
            <a:off x="8339400" y="2286000"/>
            <a:ext cx="290736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</a:rPr>
              <a:t>Auditoría completa, SAT y conciliación con ERP sin modificar legacy.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6"/>
          <p:cNvSpPr/>
          <p:nvPr/>
        </p:nvSpPr>
        <p:spPr>
          <a:xfrm>
            <a:off x="1216080" y="4096440"/>
            <a:ext cx="9747000" cy="1060200"/>
          </a:xfrm>
          <a:prstGeom prst="roundRect">
            <a:avLst>
              <a:gd name="adj" fmla="val 5172"/>
            </a:avLst>
          </a:prstGeom>
          <a:solidFill>
            <a:srgbClr val="17324d"/>
          </a:solidFill>
          <a:ln w="12700">
            <a:solidFill>
              <a:srgbClr val="1732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7"/>
          <p:cNvSpPr/>
          <p:nvPr/>
        </p:nvSpPr>
        <p:spPr>
          <a:xfrm>
            <a:off x="1609200" y="4416480"/>
            <a:ext cx="90064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On-premises ahora. Nube después. Sin rediseñar el corazón del negocio.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8"/>
          <p:cNvSpPr/>
          <p:nvPr/>
        </p:nvSpPr>
        <p:spPr>
          <a:xfrm>
            <a:off x="1920240" y="560520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SGO-Logic prioriza lo que más cuesta perder: órdenes, evidencia y continuidad.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1"/>
          <p:cNvSpPr>
            <a:spLocks noGrp="1"/>
          </p:cNvSpPr>
          <p:nvPr>
            <p:ph type="sldNum" idx="21"/>
          </p:nvPr>
        </p:nvSpPr>
        <p:spPr>
          <a:xfrm>
            <a:off x="11292840" y="6546960"/>
            <a:ext cx="36540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6D8BB8-D5F5-4A2F-A0D6-027406660329}" type="slidenum">
              <a: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Shape 0"/>
          <p:cNvSpPr/>
          <p:nvPr/>
        </p:nvSpPr>
        <p:spPr>
          <a:xfrm>
            <a:off x="640080" y="255960"/>
            <a:ext cx="1142640" cy="237240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 w="12700">
            <a:solidFill>
              <a:srgbClr val="eaf2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1"/>
          <p:cNvSpPr/>
          <p:nvPr/>
        </p:nvSpPr>
        <p:spPr>
          <a:xfrm>
            <a:off x="713160" y="306360"/>
            <a:ext cx="9964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APÉNDICE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2"/>
          <p:cNvSpPr/>
          <p:nvPr/>
        </p:nvSpPr>
        <p:spPr>
          <a:xfrm>
            <a:off x="621720" y="384120"/>
            <a:ext cx="10881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7324d"/>
                </a:solidFill>
                <a:effectLst/>
                <a:uFillTx/>
                <a:latin typeface="Aptos Display"/>
                <a:ea typeface="Aptos Display"/>
              </a:rPr>
              <a:t>Preguntas probables de defensa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3"/>
          <p:cNvSpPr/>
          <p:nvPr/>
        </p:nvSpPr>
        <p:spPr>
          <a:xfrm>
            <a:off x="640080" y="85968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a6675"/>
                </a:solidFill>
                <a:effectLst/>
                <a:uFillTx/>
                <a:latin typeface="Aptos"/>
                <a:ea typeface="Aptos"/>
              </a:rPr>
              <a:t>Respuestas cortas para mantener la conversación enfocada en drivers y trade-offs.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4"/>
          <p:cNvSpPr/>
          <p:nvPr/>
        </p:nvSpPr>
        <p:spPr>
          <a:xfrm>
            <a:off x="777240" y="1298520"/>
            <a:ext cx="4023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7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¿Por qué no microservicios desde el inicio?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5"/>
          <p:cNvSpPr/>
          <p:nvPr/>
        </p:nvSpPr>
        <p:spPr>
          <a:xfrm>
            <a:off x="4617720" y="1298520"/>
            <a:ext cx="66747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Porque aumentan complejidad operativa y riesgo de plazo; el equipo y presupuesto favorecen un monolito modular con broker.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6"/>
          <p:cNvSpPr/>
          <p:nvPr/>
        </p:nvSpPr>
        <p:spPr>
          <a:xfrm>
            <a:off x="777240" y="2002320"/>
            <a:ext cx="10515600" cy="360"/>
          </a:xfrm>
          <a:prstGeom prst="line">
            <a:avLst/>
          </a:prstGeom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7"/>
          <p:cNvSpPr/>
          <p:nvPr/>
        </p:nvSpPr>
        <p:spPr>
          <a:xfrm>
            <a:off x="777240" y="2258640"/>
            <a:ext cx="4023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7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¿Qué pasa si PayKlik cae otra vez?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8"/>
          <p:cNvSpPr/>
          <p:nvPr/>
        </p:nvSpPr>
        <p:spPr>
          <a:xfrm>
            <a:off x="4617720" y="2258640"/>
            <a:ext cx="66747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La orden ya está persistida; outbox + circuit breaker + reintentos mantienen el intento sin perder evidencia.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9"/>
          <p:cNvSpPr/>
          <p:nvPr/>
        </p:nvSpPr>
        <p:spPr>
          <a:xfrm>
            <a:off x="777240" y="2962440"/>
            <a:ext cx="10515600" cy="360"/>
          </a:xfrm>
          <a:prstGeom prst="line">
            <a:avLst/>
          </a:prstGeom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0"/>
          <p:cNvSpPr/>
          <p:nvPr/>
        </p:nvSpPr>
        <p:spPr>
          <a:xfrm>
            <a:off x="777240" y="3218760"/>
            <a:ext cx="4023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7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¿Cómo evitan doble venta?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1"/>
          <p:cNvSpPr/>
          <p:nvPr/>
        </p:nvSpPr>
        <p:spPr>
          <a:xfrm>
            <a:off x="4617720" y="3218760"/>
            <a:ext cx="66747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Inventario centralizado + reserva atómica; una unidad solo puede quedar comprometida a un cliente.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12"/>
          <p:cNvSpPr/>
          <p:nvPr/>
        </p:nvSpPr>
        <p:spPr>
          <a:xfrm>
            <a:off x="777240" y="3922560"/>
            <a:ext cx="10515600" cy="360"/>
          </a:xfrm>
          <a:prstGeom prst="line">
            <a:avLst/>
          </a:prstGeom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13"/>
          <p:cNvSpPr/>
          <p:nvPr/>
        </p:nvSpPr>
        <p:spPr>
          <a:xfrm>
            <a:off x="777240" y="4178880"/>
            <a:ext cx="4023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7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¿Cómo integran un ERP antiguo?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4"/>
          <p:cNvSpPr/>
          <p:nvPr/>
        </p:nvSpPr>
        <p:spPr>
          <a:xfrm>
            <a:off x="4617720" y="4178880"/>
            <a:ext cx="66747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Adaptador batch idempotente que genera CSV/XML cada 30 minutos y conserva trazabilidad por lote.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15"/>
          <p:cNvSpPr/>
          <p:nvPr/>
        </p:nvSpPr>
        <p:spPr>
          <a:xfrm>
            <a:off x="777240" y="4882680"/>
            <a:ext cx="10515600" cy="360"/>
          </a:xfrm>
          <a:prstGeom prst="line">
            <a:avLst/>
          </a:prstGeom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16"/>
          <p:cNvSpPr/>
          <p:nvPr/>
        </p:nvSpPr>
        <p:spPr>
          <a:xfrm>
            <a:off x="777240" y="5139000"/>
            <a:ext cx="4023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70" strike="noStrike" u="none">
                <a:solidFill>
                  <a:srgbClr val="17324d"/>
                </a:solidFill>
                <a:effectLst/>
                <a:uFillTx/>
                <a:latin typeface="Aptos"/>
              </a:rPr>
              <a:t>¿Qué riesgo queda aceptado?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7"/>
          <p:cNvSpPr/>
          <p:nvPr/>
        </p:nvSpPr>
        <p:spPr>
          <a:xfrm>
            <a:off x="4617720" y="5139000"/>
            <a:ext cx="66747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172033"/>
                </a:solidFill>
                <a:effectLst/>
                <a:uFillTx/>
                <a:latin typeface="Aptos"/>
              </a:rPr>
              <a:t>ERP no es tiempo real, no hay autoescalado real en Fase 1 y algunas fallas logísticas pueden escalar a intervención humana.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18"/>
          <p:cNvSpPr/>
          <p:nvPr/>
        </p:nvSpPr>
        <p:spPr>
          <a:xfrm>
            <a:off x="777240" y="5842800"/>
            <a:ext cx="10515600" cy="360"/>
          </a:xfrm>
          <a:prstGeom prst="line">
            <a:avLst/>
          </a:prstGeom>
          <a:ln w="1016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9"/>
          <p:cNvSpPr/>
          <p:nvPr/>
        </p:nvSpPr>
        <p:spPr>
          <a:xfrm>
            <a:off x="2011680" y="6144840"/>
            <a:ext cx="81378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c75c6"/>
                </a:solidFill>
                <a:effectLst/>
                <a:uFillTx/>
                <a:latin typeface="Aptos"/>
              </a:rPr>
              <a:t>Regla para responder: citar el driver, la decisión y la consecuencia aceptada.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PlaceHolder 1"/>
          <p:cNvSpPr>
            <a:spLocks noGrp="1"/>
          </p:cNvSpPr>
          <p:nvPr>
            <p:ph type="sldNum" idx="22"/>
          </p:nvPr>
        </p:nvSpPr>
        <p:spPr>
          <a:xfrm>
            <a:off x="11292840" y="6546960"/>
            <a:ext cx="36540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16C804-12D2-4DE7-A534-E2F47524DD93}" type="slidenum">
              <a:rPr b="0" lang="en-US" sz="800" strike="noStrike" u="non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Universidad del Valle de Guatemala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2026-08-25T20:15:49Z</dcterms:created>
  <dc:creator>OpenAI</dc:creator>
  <dc:description/>
  <dc:language>en-US</dc:language>
  <cp:lastModifiedBy>OpenAI</cp:lastModifiedBy>
  <dcterms:modified xsi:type="dcterms:W3CDTF">2026-08-25T20:15:49Z</dcterms:modified>
  <cp:revision>1</cp:revision>
  <dc:subject>SGO-Logic — Arquitectura para operación omnicanal de MegaStore</dc:subject>
  <dc:title>SGO-Logic — Presentación de Arquitectura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19</vt:r8>
  </property>
  <property fmtid="{D5CDD505-2E9C-101B-9397-08002B2CF9AE}" pid="3" name="PresentationFormat">
    <vt:lpwstr>On-screen Show (16:9)</vt:lpwstr>
  </property>
  <property fmtid="{D5CDD505-2E9C-101B-9397-08002B2CF9AE}" pid="4" name="Slides">
    <vt:r8>19</vt:r8>
  </property>
</Properties>
</file>